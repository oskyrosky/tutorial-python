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Raleway"/>
      <p:regular r:id="rId34"/>
      <p:bold r:id="rId35"/>
      <p:italic r:id="rId36"/>
      <p:boldItalic r:id="rId37"/>
    </p:embeddedFont>
    <p:embeddedFont>
      <p:font typeface="Roboto"/>
      <p:regular r:id="rId38"/>
      <p:bold r:id="rId39"/>
      <p:italic r:id="rId40"/>
      <p:boldItalic r:id="rId41"/>
    </p:embeddedFont>
    <p:embeddedFont>
      <p:font typeface="La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20" Type="http://schemas.openxmlformats.org/officeDocument/2006/relationships/slide" Target="slides/slide15.xml"/><Relationship Id="rId42" Type="http://schemas.openxmlformats.org/officeDocument/2006/relationships/font" Target="fonts/Lato-regular.fntdata"/><Relationship Id="rId41" Type="http://schemas.openxmlformats.org/officeDocument/2006/relationships/font" Target="fonts/Roboto-boldItalic.fntdata"/><Relationship Id="rId22" Type="http://schemas.openxmlformats.org/officeDocument/2006/relationships/slide" Target="slides/slide17.xml"/><Relationship Id="rId44" Type="http://schemas.openxmlformats.org/officeDocument/2006/relationships/font" Target="fonts/Lato-italic.fntdata"/><Relationship Id="rId21" Type="http://schemas.openxmlformats.org/officeDocument/2006/relationships/slide" Target="slides/slide16.xml"/><Relationship Id="rId43" Type="http://schemas.openxmlformats.org/officeDocument/2006/relationships/font" Target="fonts/Lato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aleway-bold.fntdata"/><Relationship Id="rId12" Type="http://schemas.openxmlformats.org/officeDocument/2006/relationships/slide" Target="slides/slide7.xml"/><Relationship Id="rId34" Type="http://schemas.openxmlformats.org/officeDocument/2006/relationships/font" Target="fonts/Raleway-regular.fntdata"/><Relationship Id="rId15" Type="http://schemas.openxmlformats.org/officeDocument/2006/relationships/slide" Target="slides/slide10.xml"/><Relationship Id="rId37" Type="http://schemas.openxmlformats.org/officeDocument/2006/relationships/font" Target="fonts/Raleway-boldItalic.fntdata"/><Relationship Id="rId14" Type="http://schemas.openxmlformats.org/officeDocument/2006/relationships/slide" Target="slides/slide9.xml"/><Relationship Id="rId36" Type="http://schemas.openxmlformats.org/officeDocument/2006/relationships/font" Target="fonts/Raleway-italic.fntdata"/><Relationship Id="rId17" Type="http://schemas.openxmlformats.org/officeDocument/2006/relationships/slide" Target="slides/slide12.xml"/><Relationship Id="rId39" Type="http://schemas.openxmlformats.org/officeDocument/2006/relationships/font" Target="fonts/Roboto-bold.fntdata"/><Relationship Id="rId16" Type="http://schemas.openxmlformats.org/officeDocument/2006/relationships/slide" Target="slides/slide11.xml"/><Relationship Id="rId38" Type="http://schemas.openxmlformats.org/officeDocument/2006/relationships/font" Target="fonts/Robo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50fa8e3f3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50fa8e3f3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0fa8e3f38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50fa8e3f38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0fa8e3f3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0fa8e3f3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0fa8e3f38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50fa8e3f38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50fa8e3f3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50fa8e3f3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50fa8e3f38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50fa8e3f38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50fa8e3f38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50fa8e3f38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50fa8e3f38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50fa8e3f38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0fa8e3f38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0fa8e3f38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50fa8e3f3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50fa8e3f3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50fa8e3f38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50fa8e3f38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50fa8e3f38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50fa8e3f38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50fa8e3f38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50fa8e3f38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50fa8e3f38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50fa8e3f38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50fa8e3f38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50fa8e3f38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0fa8e3f38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0fa8e3f38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50fa8e3f38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50fa8e3f38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0fa8e3f38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0fa8e3f38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512f6912b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512f6912b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50fa8e3f38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50fa8e3f38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50fa8e3f38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50fa8e3f38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50fa8e3f38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50fa8e3f38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50fa8e3f38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50fa8e3f38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50fa8e3f38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50fa8e3f38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50fa8e3f38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50fa8e3f38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50fa8e3f38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50fa8e3f38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50fa8e3f38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50fa8e3f38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313375" y="1388975"/>
            <a:ext cx="8520600" cy="12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ETL: Transformación de la estructura de datos.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5413" y="2779500"/>
            <a:ext cx="3856531" cy="217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129775" y="1539225"/>
            <a:ext cx="7688100" cy="3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Recordemos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El proceso de ETL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La Transformación</a:t>
            </a: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Cambios a la estructura del DataFrame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Otros aspectos del proceso de la Transformación.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Transformación → Carga (Load)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Conclusión.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129775" y="1539225"/>
            <a:ext cx="7688100" cy="3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Recordemos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325" y="1501000"/>
            <a:ext cx="8545199" cy="332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359325" y="585975"/>
            <a:ext cx="86556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4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Recordemos…</a:t>
            </a:r>
            <a:endParaRPr b="1" sz="34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/>
        </p:nvSpPr>
        <p:spPr>
          <a:xfrm>
            <a:off x="129775" y="1539225"/>
            <a:ext cx="7688100" cy="3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Recordemos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El proceso de ETL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/>
        </p:nvSpPr>
        <p:spPr>
          <a:xfrm>
            <a:off x="129775" y="1539225"/>
            <a:ext cx="7688100" cy="3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Recordemos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El proceso de ETL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La Transformación.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693150" y="549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¿Son todas las estructuras…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424650" y="14412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… </a:t>
            </a:r>
            <a:r>
              <a:rPr lang="es-419"/>
              <a:t>adecuadas</a:t>
            </a:r>
            <a:r>
              <a:rPr lang="es-419"/>
              <a:t> para ser analizadas de forma </a:t>
            </a:r>
            <a:r>
              <a:rPr lang="es-419"/>
              <a:t>inmediata?</a:t>
            </a:r>
            <a:endParaRPr/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920" y="2127250"/>
            <a:ext cx="4735299" cy="2762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9275" y="2127250"/>
            <a:ext cx="2762250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727650" y="614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Definición de la transformación en el ETL.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732100" y="1556375"/>
            <a:ext cx="5085300" cy="33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 etapa de transformación en el proceso ETL (Extract, Transform, Load) se refiere a la fase en la que los datos extraídos de diversas fuentes </a:t>
            </a:r>
            <a:r>
              <a:rPr i="1" lang="es-419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 someten a cambios y modificaciones para prepararlos y adecuarlos a los requisitos del sistema de destino</a:t>
            </a:r>
            <a:r>
              <a:rPr lang="es-419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Durante la etapa de transformación, se aplican una serie de operaciones y reglas de negocio para limpiar, filtrar, combinar, reorganizar y enriquecer los datos extraídos.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 objetivo principal de esta etapa es garantizar que los datos sean coherentes, precisos y completos, y que cumplan con el formato y la estructura necesarios para su carga y análisis posteriores.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rPr lang="es-419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Transformar = obtener la estructura requerida. </a:t>
            </a:r>
            <a:endParaRPr b="1"/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550" y="1430900"/>
            <a:ext cx="2969426" cy="193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516500"/>
            <a:ext cx="2949200" cy="147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627850" y="6002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Algunos casos de transformación.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344825" y="1400625"/>
            <a:ext cx="5417400" cy="35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●"/>
            </a:pPr>
            <a:r>
              <a:rPr lang="es-419" sz="10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Seleccionar ciertas columnas.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●"/>
            </a:pPr>
            <a:r>
              <a:rPr lang="es-419" sz="10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Traducir códigos (por ejemplo, si la fuente almacena una “H” para Hombre y “M” para Mujer pero el destino tiene que guardar “1” para Hombre y “2” para Mujer).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●"/>
            </a:pPr>
            <a:r>
              <a:rPr lang="es-419" sz="10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Codificar valores libres (por ejemplo, convertir “Hombre” en “H” o “Sr” en “1”).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●"/>
            </a:pPr>
            <a:r>
              <a:rPr lang="es-419" sz="10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Obtener nuevos valores calculados (por ejemplo, total_venta = cantidad * precio, o Beneficio = PVP - Coste).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●"/>
            </a:pPr>
            <a:r>
              <a:rPr lang="es-419" sz="10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Unir datos de múltiples fuentes (por ejemplo, búsquedas, combinaciones, etc.).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●"/>
            </a:pPr>
            <a:r>
              <a:rPr lang="es-419" sz="10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Calcular totales de múltiples filas de datos (por ejemplo, ventas totales de cada región).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●"/>
            </a:pPr>
            <a:r>
              <a:rPr lang="es-419" sz="10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Generación de campos clave en el destino.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●"/>
            </a:pPr>
            <a:r>
              <a:rPr lang="es-419" sz="10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Transponer o pivotar (girando múltiples columnas en filas o viceversa).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●"/>
            </a:pPr>
            <a:r>
              <a:rPr lang="es-419" sz="10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Dividir una columna en varias (por ejemplo, columna “Nombre: García López, Miguel Ángel”; pasar a tres columnas “Nombre: Miguel Ángel”, “Apellido1: García” y “Apellido2: López”).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●"/>
            </a:pPr>
            <a:r>
              <a:rPr lang="es-419" sz="10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Simular ciertas estructuras.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●"/>
            </a:pPr>
            <a:r>
              <a:rPr lang="es-419" sz="10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Imputar los valores como los NA o los outliers.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●"/>
            </a:pPr>
            <a:r>
              <a:rPr lang="es-419" sz="10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Etc.</a:t>
            </a:r>
            <a:endParaRPr/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775" y="1262724"/>
            <a:ext cx="2604200" cy="186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6146" y="3367300"/>
            <a:ext cx="2485450" cy="165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729450" y="5784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ideal de la transformación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66575" y="1933725"/>
            <a:ext cx="3204000" cy="28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“Luego del caos, siempre llega la calma.”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Podemos cargar los datos, los cuales les </a:t>
            </a:r>
            <a:r>
              <a:rPr lang="es-419"/>
              <a:t>llamaremos</a:t>
            </a:r>
            <a:r>
              <a:rPr lang="es-419"/>
              <a:t> los Mart.</a:t>
            </a:r>
            <a:endParaRPr/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4575" y="1340147"/>
            <a:ext cx="4477324" cy="37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/>
        </p:nvSpPr>
        <p:spPr>
          <a:xfrm>
            <a:off x="129775" y="1539225"/>
            <a:ext cx="7688100" cy="3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Recordemos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El proceso de ETL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La Transformación.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Cambios a la estructura del DataFrame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/>
        </p:nvSpPr>
        <p:spPr>
          <a:xfrm>
            <a:off x="129775" y="1539225"/>
            <a:ext cx="7688100" cy="3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Recordemos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El proceso de ETL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La Transformación.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Cambios a la estructura del DataFrame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lphaL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Columnas.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lphaL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Filas.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lphaL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Nuevas variables.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lphaL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Las variables string.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lphaLcPeriod"/>
            </a:pPr>
            <a:r>
              <a:rPr lang="es-419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Valores faltante.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lphaL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La estructura general.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lphaL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Simular estructuras.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727650" y="56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Cambio en la estructura del DF: columnas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215100" y="1685975"/>
            <a:ext cx="406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Algunos cambios en las columnas: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Nombre de la variable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Tipo de variable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Cambiar la posición de la variabla en las columnas.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Seleccionar algunas columnas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Borrar algunas columnas</a:t>
            </a:r>
            <a:endParaRPr/>
          </a:p>
        </p:txBody>
      </p:sp>
      <p:pic>
        <p:nvPicPr>
          <p:cNvPr id="168" name="Google Shape;16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3200" y="1437225"/>
            <a:ext cx="27241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2550" y="3237450"/>
            <a:ext cx="3385460" cy="172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3536950" y="1571700"/>
            <a:ext cx="5278500" cy="31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Los cambios en las filas: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Filtrar por 1 o más condiciones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Ordenar por 1 o más condiciones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Ver el total de cotegorias con un distinct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Obtener una muestra de “n” o por sujetos </a:t>
            </a:r>
            <a:endParaRPr/>
          </a:p>
        </p:txBody>
      </p:sp>
      <p:sp>
        <p:nvSpPr>
          <p:cNvPr id="175" name="Google Shape;175;p27"/>
          <p:cNvSpPr txBox="1"/>
          <p:nvPr>
            <p:ph type="title"/>
          </p:nvPr>
        </p:nvSpPr>
        <p:spPr>
          <a:xfrm>
            <a:off x="727650" y="56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Cambio en la estructura del DF: filas</a:t>
            </a:r>
            <a:endParaRPr/>
          </a:p>
        </p:txBody>
      </p:sp>
      <p:pic>
        <p:nvPicPr>
          <p:cNvPr id="176" name="Google Shape;17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75" y="1601525"/>
            <a:ext cx="29146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325550"/>
            <a:ext cx="3028950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727650" y="56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Cambio en la estructura del DF: nueva variables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215100" y="1685975"/>
            <a:ext cx="406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Al crear nuevas variables</a:t>
            </a:r>
            <a:r>
              <a:rPr lang="es-419"/>
              <a:t>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Crear variables a partir de otra con operaciones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Reescribir una misma variable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Crear variables a partir de condiciones (var numérica).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Crear variables a partir de condiciones (var categórica).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Crear variables a partir de rangos.</a:t>
            </a:r>
            <a:endParaRPr/>
          </a:p>
        </p:txBody>
      </p:sp>
      <p:pic>
        <p:nvPicPr>
          <p:cNvPr id="184" name="Google Shape;1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6075" y="1515850"/>
            <a:ext cx="281940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6075" y="3297025"/>
            <a:ext cx="2819400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727650" y="56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Cambio en la estructura del DF: variables strings</a:t>
            </a:r>
            <a:endParaRPr/>
          </a:p>
        </p:txBody>
      </p:sp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3536950" y="1571700"/>
            <a:ext cx="5278500" cy="31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Los cambios en las variables cadenas o strings: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Mayúscula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Minúscula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Tamaño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Eliminar campos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Cortar la cadena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Remplazar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Repetir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etc…</a:t>
            </a:r>
            <a:endParaRPr/>
          </a:p>
        </p:txBody>
      </p:sp>
      <p:pic>
        <p:nvPicPr>
          <p:cNvPr id="192" name="Google Shape;19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50" y="1571700"/>
            <a:ext cx="281940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550" y="3267150"/>
            <a:ext cx="2819400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>
            <p:ph idx="1" type="body"/>
          </p:nvPr>
        </p:nvSpPr>
        <p:spPr>
          <a:xfrm>
            <a:off x="508000" y="1685950"/>
            <a:ext cx="3428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Valores faltantes 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Imputar valores.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Valorar los valores </a:t>
            </a:r>
            <a:r>
              <a:rPr lang="es-419"/>
              <a:t>extremos</a:t>
            </a:r>
            <a:r>
              <a:rPr lang="es-419"/>
              <a:t>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Tratar los NA.</a:t>
            </a:r>
            <a:endParaRPr/>
          </a:p>
        </p:txBody>
      </p:sp>
      <p:sp>
        <p:nvSpPr>
          <p:cNvPr id="199" name="Google Shape;199;p30"/>
          <p:cNvSpPr txBox="1"/>
          <p:nvPr>
            <p:ph type="title"/>
          </p:nvPr>
        </p:nvSpPr>
        <p:spPr>
          <a:xfrm>
            <a:off x="727650" y="56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Cambio en la estructura del DF: valores faltantes.</a:t>
            </a:r>
            <a:endParaRPr/>
          </a:p>
        </p:txBody>
      </p:sp>
      <p:pic>
        <p:nvPicPr>
          <p:cNvPr id="200" name="Google Shape;20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0100" y="1501525"/>
            <a:ext cx="281940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0550" y="3532725"/>
            <a:ext cx="323850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idx="1" type="body"/>
          </p:nvPr>
        </p:nvSpPr>
        <p:spPr>
          <a:xfrm>
            <a:off x="4286250" y="1936000"/>
            <a:ext cx="3881700" cy="28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Hacer cambios generales a la estructura general como: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Concatenar tablas.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Hacer appen a tablas.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Mezclar tablas.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Unir (join) tablas.</a:t>
            </a:r>
            <a:endParaRPr/>
          </a:p>
        </p:txBody>
      </p:sp>
      <p:sp>
        <p:nvSpPr>
          <p:cNvPr id="207" name="Google Shape;207;p31"/>
          <p:cNvSpPr txBox="1"/>
          <p:nvPr>
            <p:ph type="title"/>
          </p:nvPr>
        </p:nvSpPr>
        <p:spPr>
          <a:xfrm>
            <a:off x="727650" y="563900"/>
            <a:ext cx="7915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Cambio en la estructura del DF: la estructura general.</a:t>
            </a:r>
            <a:endParaRPr/>
          </a:p>
        </p:txBody>
      </p:sp>
      <p:pic>
        <p:nvPicPr>
          <p:cNvPr id="208" name="Google Shape;20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425" y="1580100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2437" y="3311275"/>
            <a:ext cx="1837476" cy="165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idx="1" type="body"/>
          </p:nvPr>
        </p:nvSpPr>
        <p:spPr>
          <a:xfrm>
            <a:off x="479425" y="1521675"/>
            <a:ext cx="4871400" cy="28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 partir de una tabla general, creamos sub tablas: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Medidas de resumen.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Estructuras de resumen.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Estructura con filtro</a:t>
            </a:r>
            <a:endParaRPr/>
          </a:p>
        </p:txBody>
      </p:sp>
      <p:sp>
        <p:nvSpPr>
          <p:cNvPr id="215" name="Google Shape;215;p32"/>
          <p:cNvSpPr txBox="1"/>
          <p:nvPr>
            <p:ph type="title"/>
          </p:nvPr>
        </p:nvSpPr>
        <p:spPr>
          <a:xfrm>
            <a:off x="727650" y="563900"/>
            <a:ext cx="7915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Cambio en la estructura del DF: </a:t>
            </a:r>
            <a:r>
              <a:rPr lang="es-419"/>
              <a:t>subestructuras</a:t>
            </a:r>
            <a:r>
              <a:rPr lang="es-419"/>
              <a:t>.</a:t>
            </a:r>
            <a:endParaRPr/>
          </a:p>
        </p:txBody>
      </p:sp>
      <p:pic>
        <p:nvPicPr>
          <p:cNvPr id="216" name="Google Shape;21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4971" y="1819275"/>
            <a:ext cx="309322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2550" y="3469500"/>
            <a:ext cx="3698075" cy="104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idx="1" type="body"/>
          </p:nvPr>
        </p:nvSpPr>
        <p:spPr>
          <a:xfrm>
            <a:off x="4457700" y="1528775"/>
            <a:ext cx="3960600" cy="3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completar ciertas sun estructuras, o validar el proceso podemos simular datos: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Simular escalares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Simular vectores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s-419"/>
              <a:t>Simular Dataframes</a:t>
            </a:r>
            <a:endParaRPr/>
          </a:p>
        </p:txBody>
      </p:sp>
      <p:sp>
        <p:nvSpPr>
          <p:cNvPr id="223" name="Google Shape;223;p33"/>
          <p:cNvSpPr txBox="1"/>
          <p:nvPr>
            <p:ph type="title"/>
          </p:nvPr>
        </p:nvSpPr>
        <p:spPr>
          <a:xfrm>
            <a:off x="727650" y="56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Cambio en la estructura del DF: simular estructuras.</a:t>
            </a:r>
            <a:endParaRPr/>
          </a:p>
        </p:txBody>
      </p:sp>
      <p:pic>
        <p:nvPicPr>
          <p:cNvPr id="224" name="Google Shape;22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75" y="1502873"/>
            <a:ext cx="3562350" cy="18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000" y="3336625"/>
            <a:ext cx="3091701" cy="159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/>
        </p:nvSpPr>
        <p:spPr>
          <a:xfrm>
            <a:off x="129775" y="1539225"/>
            <a:ext cx="7688100" cy="3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Recordemos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El proceso de ETL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La Transformación.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Cambios a la estructura del DataFrame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Otros aspectos del proceso de la Transformación.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>
            <p:ph type="title"/>
          </p:nvPr>
        </p:nvSpPr>
        <p:spPr>
          <a:xfrm>
            <a:off x="727650" y="554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Otros aspectos</a:t>
            </a:r>
            <a:endParaRPr/>
          </a:p>
        </p:txBody>
      </p:sp>
      <p:sp>
        <p:nvSpPr>
          <p:cNvPr id="236" name="Google Shape;236;p35"/>
          <p:cNvSpPr txBox="1"/>
          <p:nvPr>
            <p:ph idx="1" type="body"/>
          </p:nvPr>
        </p:nvSpPr>
        <p:spPr>
          <a:xfrm>
            <a:off x="4236250" y="1571650"/>
            <a:ext cx="46008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ETL es la clave para poder analizar una posteriormente un archivo de datos, sin embargo, ¿es la mejor forma de proceder?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Existe también el ELT: Extract, Load y Transform.</a:t>
            </a:r>
            <a:endParaRPr/>
          </a:p>
        </p:txBody>
      </p:sp>
      <p:pic>
        <p:nvPicPr>
          <p:cNvPr id="237" name="Google Shape;23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450" y="1621675"/>
            <a:ext cx="3652375" cy="279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 txBox="1"/>
          <p:nvPr/>
        </p:nvSpPr>
        <p:spPr>
          <a:xfrm>
            <a:off x="129775" y="1539225"/>
            <a:ext cx="7688100" cy="3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Recordemos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El proceso de ETL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La Transformación.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Cambios a la estructura del DataFrame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Otros aspectos del proceso de la Transformación.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Transformación → Carga (Load)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>
            <p:ph type="title"/>
          </p:nvPr>
        </p:nvSpPr>
        <p:spPr>
          <a:xfrm>
            <a:off x="727650" y="5256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Luego de la transformación, sigue la carga </a:t>
            </a:r>
            <a:endParaRPr/>
          </a:p>
        </p:txBody>
      </p:sp>
      <p:sp>
        <p:nvSpPr>
          <p:cNvPr id="248" name="Google Shape;248;p37"/>
          <p:cNvSpPr txBox="1"/>
          <p:nvPr>
            <p:ph idx="1" type="body"/>
          </p:nvPr>
        </p:nvSpPr>
        <p:spPr>
          <a:xfrm>
            <a:off x="222250" y="1921700"/>
            <a:ext cx="3614100" cy="30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 la estructura deseada, nos interesaría analizarla. </a:t>
            </a:r>
            <a:br>
              <a:rPr lang="es-419"/>
            </a:br>
            <a:br>
              <a:rPr lang="es-419"/>
            </a:br>
            <a:r>
              <a:rPr lang="es-419"/>
              <a:t>Sin embargo, un procedimiento correcto sería guardar esa estructura en un base de datos.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Es un proceso recomendado, que además de guardar el registro de los procesos, permite, ordenadamente y con un historial, tener la estructura previa al análisis.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Una muy mala práctica es tener los datos en archivos de datos…</a:t>
            </a:r>
            <a:endParaRPr/>
          </a:p>
        </p:txBody>
      </p:sp>
      <p:pic>
        <p:nvPicPr>
          <p:cNvPr id="249" name="Google Shape;24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0500" y="1521625"/>
            <a:ext cx="4962524" cy="31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/>
        </p:nvSpPr>
        <p:spPr>
          <a:xfrm>
            <a:off x="129775" y="1539225"/>
            <a:ext cx="7688100" cy="3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Recordemos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El proceso de ETL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La Transformación.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Cambios a la estructura del DataFrame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Otros aspectos del proceso de la Transformación.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Transformación → Carga (Load)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AutoNum type="arabicPeriod"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Conclusión.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/>
          <p:nvPr>
            <p:ph type="title"/>
          </p:nvPr>
        </p:nvSpPr>
        <p:spPr>
          <a:xfrm>
            <a:off x="729450" y="5471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 resumen</a:t>
            </a:r>
            <a:endParaRPr/>
          </a:p>
        </p:txBody>
      </p:sp>
      <p:sp>
        <p:nvSpPr>
          <p:cNvPr id="260" name="Google Shape;260;p39"/>
          <p:cNvSpPr txBox="1"/>
          <p:nvPr>
            <p:ph idx="1" type="body"/>
          </p:nvPr>
        </p:nvSpPr>
        <p:spPr>
          <a:xfrm>
            <a:off x="727650" y="1664525"/>
            <a:ext cx="7688700" cy="31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proceso de transformación surge justo después de la extracción o ingesta de los datos.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s-419"/>
            </a:br>
            <a:r>
              <a:rPr lang="es-419"/>
              <a:t>La Transformación tiene por objetivo obtener una estructura de datos para ser analizada.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s-419"/>
            </a:br>
            <a:r>
              <a:rPr lang="es-419"/>
              <a:t>Dentro de los procesos de transformación podemos </a:t>
            </a:r>
            <a:r>
              <a:rPr lang="es-419"/>
              <a:t>ampliar</a:t>
            </a:r>
            <a:r>
              <a:rPr lang="es-419"/>
              <a:t>: cambios a las </a:t>
            </a:r>
            <a:r>
              <a:rPr lang="es-419"/>
              <a:t>columnas</a:t>
            </a:r>
            <a:r>
              <a:rPr lang="es-419"/>
              <a:t>, filas, crear variables, trabajar con datos strings, modificar estructuras, crear sub estructuras, simular datos.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El ETL a veces no es la solución, y se debe utilizar más bien un ELT.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Teniendo la o las estructuras, debemos finalmente cargar (load) nuestro datos una base de datos.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