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Raleway"/>
      <p:regular r:id="rId38"/>
      <p:bold r:id="rId39"/>
      <p:italic r:id="rId40"/>
      <p:boldItalic r:id="rId41"/>
    </p:embeddedFont>
    <p:embeddedFont>
      <p:font typeface="Roboto"/>
      <p:regular r:id="rId42"/>
      <p:bold r:id="rId43"/>
      <p:italic r:id="rId44"/>
      <p:boldItalic r:id="rId45"/>
    </p:embeddedFont>
    <p:embeddedFont>
      <p:font typeface="Lat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italic.fntdata"/><Relationship Id="rId42" Type="http://schemas.openxmlformats.org/officeDocument/2006/relationships/font" Target="fonts/Roboto-regular.fntdata"/><Relationship Id="rId41" Type="http://schemas.openxmlformats.org/officeDocument/2006/relationships/font" Target="fonts/Raleway-boldItalic.fntdata"/><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Lato-regular.fntdata"/><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italic.fntdata"/><Relationship Id="rId47" Type="http://schemas.openxmlformats.org/officeDocument/2006/relationships/font" Target="fonts/Lato-bold.fntdata"/><Relationship Id="rId49"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Raleway-bold.fntdata"/><Relationship Id="rId38" Type="http://schemas.openxmlformats.org/officeDocument/2006/relationships/font" Target="fonts/Raleway-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e2150a25ae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e2150a25ae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e2150a25ae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e2150a25ae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e2150a25ae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e2150a25ae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e2150a25ae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e2150a25ae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e2150a25ae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e2150a25ae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e2150a25ae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e2150a25ae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e2150a25ae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e2150a25ae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e2150a25ae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e2150a25ae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e2150a25ae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e2150a25ae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e2150a25ae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e2150a25ae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e2150a25ae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e2150a25ae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e2150a25a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e2150a25a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e2150a25ae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e2150a25ae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e2150a25ae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e2150a25ae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e2150a25ae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e2150a25ae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e2150a25ae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e2150a25ae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e2150a25ae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e2150a25ae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e2150a25ae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e2150a25ae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e2150a25ae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e2150a25ae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e2150a25ae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e2150a25ae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e2150a25ae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e2150a25ae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e2150a25ae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e2150a25ae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e2150a25ae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e2150a25ae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e2150a25ae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e2150a25ae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e22a77c7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e22a77c7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e2150a25ae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e2150a25ae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e22a77c7a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e22a77c7a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e22a77c7a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e22a77c7a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e22a77c7a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e22a77c7a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e22a77c7a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e22a77c7a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e22a77c7a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e22a77c7a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2.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0" y="1379000"/>
            <a:ext cx="91440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Inicios del ETL: importar + EDA a los datos + exportar</a:t>
            </a:r>
            <a:endParaRPr/>
          </a:p>
        </p:txBody>
      </p:sp>
      <p:pic>
        <p:nvPicPr>
          <p:cNvPr id="87" name="Google Shape;87;p13"/>
          <p:cNvPicPr preferRelativeResize="0"/>
          <p:nvPr/>
        </p:nvPicPr>
        <p:blipFill>
          <a:blip r:embed="rId3">
            <a:alphaModFix/>
          </a:blip>
          <a:stretch>
            <a:fillRect/>
          </a:stretch>
        </p:blipFill>
        <p:spPr>
          <a:xfrm>
            <a:off x="2743575" y="3272300"/>
            <a:ext cx="3656854" cy="1795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idx="1" type="subTitle"/>
          </p:nvPr>
        </p:nvSpPr>
        <p:spPr>
          <a:xfrm>
            <a:off x="129775" y="1539225"/>
            <a:ext cx="7688100" cy="3255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es-419"/>
              <a:t>Recordemos</a:t>
            </a:r>
            <a:endParaRPr/>
          </a:p>
          <a:p>
            <a:pPr indent="-330200" lvl="0" marL="457200" rtl="0" algn="l">
              <a:spcBef>
                <a:spcPts val="0"/>
              </a:spcBef>
              <a:spcAft>
                <a:spcPts val="0"/>
              </a:spcAft>
              <a:buSzPts val="1600"/>
              <a:buAutoNum type="arabicPeriod"/>
            </a:pPr>
            <a:r>
              <a:rPr lang="es-419"/>
              <a:t>El proceso de ETL</a:t>
            </a:r>
            <a:endParaRPr/>
          </a:p>
          <a:p>
            <a:pPr indent="-330200" lvl="0" marL="457200" rtl="0" algn="l">
              <a:spcBef>
                <a:spcPts val="0"/>
              </a:spcBef>
              <a:spcAft>
                <a:spcPts val="0"/>
              </a:spcAft>
              <a:buSzPts val="1600"/>
              <a:buAutoNum type="arabicPeriod"/>
            </a:pPr>
            <a:r>
              <a:rPr lang="es-419"/>
              <a:t>Extracción de la información</a:t>
            </a:r>
            <a:endParaRPr/>
          </a:p>
          <a:p>
            <a:pPr indent="-330200" lvl="0" marL="457200" rtl="0" algn="l">
              <a:spcBef>
                <a:spcPts val="0"/>
              </a:spcBef>
              <a:spcAft>
                <a:spcPts val="0"/>
              </a:spcAft>
              <a:buSzPts val="1600"/>
              <a:buAutoNum type="arabicPeriod"/>
            </a:pPr>
            <a:r>
              <a:rPr lang="es-419"/>
              <a:t>Establecer el espacio de trabajo</a:t>
            </a:r>
            <a:endParaRPr/>
          </a:p>
          <a:p>
            <a:pPr indent="-330200" lvl="0" marL="457200" rtl="0" algn="l">
              <a:spcBef>
                <a:spcPts val="0"/>
              </a:spcBef>
              <a:spcAft>
                <a:spcPts val="0"/>
              </a:spcAft>
              <a:buSzPts val="1600"/>
              <a:buAutoNum type="arabicPeriod"/>
            </a:pPr>
            <a:r>
              <a:rPr lang="es-419"/>
              <a:t>Extraer la información en Python</a:t>
            </a:r>
            <a:endParaRPr/>
          </a:p>
          <a:p>
            <a:pPr indent="-330200" lvl="0" marL="457200" rtl="0" algn="l">
              <a:spcBef>
                <a:spcPts val="0"/>
              </a:spcBef>
              <a:spcAft>
                <a:spcPts val="0"/>
              </a:spcAft>
              <a:buSzPts val="1600"/>
              <a:buAutoNum type="arabicPeriod"/>
            </a:pPr>
            <a:r>
              <a:rPr lang="es-419"/>
              <a:t>Realizar el EDA general a la estructura de datos.</a:t>
            </a:r>
            <a:endParaRPr/>
          </a:p>
          <a:p>
            <a:pPr indent="-330200" lvl="0" marL="457200" rtl="0" algn="l">
              <a:spcBef>
                <a:spcPts val="0"/>
              </a:spcBef>
              <a:spcAft>
                <a:spcPts val="0"/>
              </a:spcAft>
              <a:buSzPts val="1600"/>
              <a:buAutoNum type="arabicPeriod"/>
            </a:pPr>
            <a:r>
              <a:rPr lang="es-419"/>
              <a:t>Tipos de estructuras de Datos</a:t>
            </a:r>
            <a:endParaRPr/>
          </a:p>
          <a:p>
            <a:pPr indent="-330200" lvl="0" marL="457200" rtl="0" algn="l">
              <a:spcBef>
                <a:spcPts val="0"/>
              </a:spcBef>
              <a:spcAft>
                <a:spcPts val="0"/>
              </a:spcAft>
              <a:buSzPts val="1600"/>
              <a:buAutoNum type="arabicPeriod"/>
            </a:pPr>
            <a:r>
              <a:rPr lang="es-419"/>
              <a:t>Exportación de datos.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idx="1" type="subTitle"/>
          </p:nvPr>
        </p:nvSpPr>
        <p:spPr>
          <a:xfrm>
            <a:off x="129775" y="1539225"/>
            <a:ext cx="7688100" cy="3255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es-419"/>
              <a:t>Recordemos</a:t>
            </a:r>
            <a:endParaRPr/>
          </a:p>
          <a:p>
            <a:pPr indent="0" lvl="0" marL="45720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ctrTitle"/>
          </p:nvPr>
        </p:nvSpPr>
        <p:spPr>
          <a:xfrm>
            <a:off x="359325" y="607725"/>
            <a:ext cx="8655600" cy="10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3400"/>
              <a:t>Recordemos…</a:t>
            </a:r>
            <a:endParaRPr sz="3400"/>
          </a:p>
        </p:txBody>
      </p:sp>
      <p:pic>
        <p:nvPicPr>
          <p:cNvPr id="103" name="Google Shape;103;p16"/>
          <p:cNvPicPr preferRelativeResize="0"/>
          <p:nvPr/>
        </p:nvPicPr>
        <p:blipFill>
          <a:blip r:embed="rId3">
            <a:alphaModFix/>
          </a:blip>
          <a:stretch>
            <a:fillRect/>
          </a:stretch>
        </p:blipFill>
        <p:spPr>
          <a:xfrm>
            <a:off x="359325" y="1501000"/>
            <a:ext cx="8374851" cy="3320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idx="1" type="subTitle"/>
          </p:nvPr>
        </p:nvSpPr>
        <p:spPr>
          <a:xfrm>
            <a:off x="129775" y="1539225"/>
            <a:ext cx="7688100" cy="3255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es-419"/>
              <a:t>Recordemos</a:t>
            </a:r>
            <a:endParaRPr/>
          </a:p>
          <a:p>
            <a:pPr indent="-330200" lvl="0" marL="457200" rtl="0" algn="l">
              <a:spcBef>
                <a:spcPts val="0"/>
              </a:spcBef>
              <a:spcAft>
                <a:spcPts val="0"/>
              </a:spcAft>
              <a:buSzPts val="1600"/>
              <a:buAutoNum type="arabicPeriod"/>
            </a:pPr>
            <a:r>
              <a:rPr lang="es-419"/>
              <a:t>El proceso de ETL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14" name="Google Shape;114;p18"/>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15" name="Google Shape;115;p18"/>
          <p:cNvPicPr preferRelativeResize="0"/>
          <p:nvPr/>
        </p:nvPicPr>
        <p:blipFill>
          <a:blip r:embed="rId3">
            <a:alphaModFix/>
          </a:blip>
          <a:stretch>
            <a:fillRect/>
          </a:stretch>
        </p:blipFill>
        <p:spPr>
          <a:xfrm>
            <a:off x="0" y="0"/>
            <a:ext cx="9144000" cy="5143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Iniciemos por la base: el ETL.</a:t>
            </a:r>
            <a:endParaRPr/>
          </a:p>
        </p:txBody>
      </p:sp>
      <p:pic>
        <p:nvPicPr>
          <p:cNvPr id="121" name="Google Shape;121;p19"/>
          <p:cNvPicPr preferRelativeResize="0"/>
          <p:nvPr/>
        </p:nvPicPr>
        <p:blipFill>
          <a:blip r:embed="rId3">
            <a:alphaModFix/>
          </a:blip>
          <a:stretch>
            <a:fillRect/>
          </a:stretch>
        </p:blipFill>
        <p:spPr>
          <a:xfrm>
            <a:off x="203050" y="1348450"/>
            <a:ext cx="4155076" cy="3688524"/>
          </a:xfrm>
          <a:prstGeom prst="rect">
            <a:avLst/>
          </a:prstGeom>
          <a:noFill/>
          <a:ln>
            <a:noFill/>
          </a:ln>
        </p:spPr>
      </p:pic>
      <p:sp>
        <p:nvSpPr>
          <p:cNvPr id="122" name="Google Shape;122;p19"/>
          <p:cNvSpPr txBox="1"/>
          <p:nvPr/>
        </p:nvSpPr>
        <p:spPr>
          <a:xfrm>
            <a:off x="4847575" y="569600"/>
            <a:ext cx="4155000" cy="4403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s-419" sz="1050">
                <a:solidFill>
                  <a:srgbClr val="24292F"/>
                </a:solidFill>
                <a:highlight>
                  <a:srgbClr val="FFFFFF"/>
                </a:highlight>
              </a:rPr>
              <a:t>El proceso de ETL (Extract, Transform, Load) es un proceso utilizado para integrar datos de múltiples fuentes y prepararlos para su análisis o uso en aplicaciones de negocio.</a:t>
            </a:r>
            <a:br>
              <a:rPr lang="es-419" sz="1100"/>
            </a:br>
            <a:r>
              <a:rPr b="1" lang="es-419" sz="1050">
                <a:solidFill>
                  <a:srgbClr val="24292F"/>
                </a:solidFill>
                <a:highlight>
                  <a:srgbClr val="FFFFFF"/>
                </a:highlight>
              </a:rPr>
              <a:t>La primera fase del proceso</a:t>
            </a:r>
            <a:r>
              <a:rPr lang="es-419" sz="1050">
                <a:solidFill>
                  <a:srgbClr val="24292F"/>
                </a:solidFill>
                <a:highlight>
                  <a:srgbClr val="FFFFFF"/>
                </a:highlight>
              </a:rPr>
              <a:t>, la extracción (Extract), implica la obtención de datos de una o varias fuentes, que pueden estar en diferentes formatos y ubicaciones. Estos datos se extraen de sus fuentes originales y se transfieren a un área de almacenamiento temporal (staging area).</a:t>
            </a:r>
            <a:br>
              <a:rPr lang="es-419" sz="1050">
                <a:solidFill>
                  <a:srgbClr val="24292F"/>
                </a:solidFill>
                <a:highlight>
                  <a:srgbClr val="FFFFFF"/>
                </a:highlight>
              </a:rPr>
            </a:br>
            <a:r>
              <a:rPr b="1" lang="es-419" sz="1050">
                <a:solidFill>
                  <a:srgbClr val="24292F"/>
                </a:solidFill>
                <a:highlight>
                  <a:srgbClr val="FFFFFF"/>
                </a:highlight>
              </a:rPr>
              <a:t>En la segunda fase, la transformación </a:t>
            </a:r>
            <a:r>
              <a:rPr lang="es-419" sz="1050">
                <a:solidFill>
                  <a:srgbClr val="24292F"/>
                </a:solidFill>
                <a:highlight>
                  <a:srgbClr val="FFFFFF"/>
                </a:highlight>
              </a:rPr>
              <a:t>(Transform), los datos extraídos se limpian, se filtran, se transforman y se agregan según las necesidades de los usuarios finales y se transforman en un formato común para su uso en aplicaciones de negocio. Los datos se pueden agregar, enriquecer y calcular en esta etapa.</a:t>
            </a:r>
            <a:br>
              <a:rPr lang="es-419" sz="1050">
                <a:solidFill>
                  <a:srgbClr val="24292F"/>
                </a:solidFill>
                <a:highlight>
                  <a:srgbClr val="FFFFFF"/>
                </a:highlight>
              </a:rPr>
            </a:br>
            <a:r>
              <a:rPr b="1" lang="es-419" sz="1050">
                <a:solidFill>
                  <a:srgbClr val="24292F"/>
                </a:solidFill>
                <a:highlight>
                  <a:srgbClr val="FFFFFF"/>
                </a:highlight>
              </a:rPr>
              <a:t>Por último, en la fase de carga</a:t>
            </a:r>
            <a:r>
              <a:rPr lang="es-419" sz="1050">
                <a:solidFill>
                  <a:srgbClr val="24292F"/>
                </a:solidFill>
                <a:highlight>
                  <a:srgbClr val="FFFFFF"/>
                </a:highlight>
              </a:rPr>
              <a:t> (Load), los datos transformados se cargan en un destino final, que puede ser un data warehouse, un data lake, una base de datos operativa o una aplicación de negocio. </a:t>
            </a:r>
            <a:endParaRPr sz="1050">
              <a:solidFill>
                <a:srgbClr val="24292F"/>
              </a:solidFill>
              <a:highlight>
                <a:srgbClr val="FFFFFF"/>
              </a:highlight>
            </a:endParaRPr>
          </a:p>
          <a:p>
            <a:pPr indent="0" lvl="0" marL="0" rtl="0" algn="just">
              <a:lnSpc>
                <a:spcPct val="115000"/>
              </a:lnSpc>
              <a:spcBef>
                <a:spcPts val="1200"/>
              </a:spcBef>
              <a:spcAft>
                <a:spcPts val="1200"/>
              </a:spcAft>
              <a:buNone/>
            </a:pPr>
            <a:r>
              <a:rPr lang="es-419" sz="1050">
                <a:solidFill>
                  <a:srgbClr val="24292F"/>
                </a:solidFill>
                <a:highlight>
                  <a:srgbClr val="FFFFFF"/>
                </a:highlight>
              </a:rPr>
              <a:t>El objetivo final de la carga es hacer que los datos </a:t>
            </a:r>
            <a:r>
              <a:rPr b="1" lang="es-419" sz="1050">
                <a:solidFill>
                  <a:srgbClr val="24292F"/>
                </a:solidFill>
                <a:highlight>
                  <a:srgbClr val="FFFFFF"/>
                </a:highlight>
              </a:rPr>
              <a:t>estén disponibles para su uso en la toma de decisiones, informes o análisis</a:t>
            </a:r>
            <a:r>
              <a:rPr lang="es-419" sz="1050">
                <a:solidFill>
                  <a:srgbClr val="24292F"/>
                </a:solidFill>
                <a:highlight>
                  <a:srgbClr val="FFFFFF"/>
                </a:highlight>
              </a:rPr>
              <a:t>.El proceso de ETL es esencial para asegurar la calidad y la integridad de los datos antes de que se utilicen para la toma de decisiones empresariales.</a:t>
            </a:r>
            <a:endParaRPr>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183450" y="0"/>
            <a:ext cx="87771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¿Por qué entender y conocer del proceso ETL?</a:t>
            </a:r>
            <a:endParaRPr/>
          </a:p>
        </p:txBody>
      </p:sp>
      <p:sp>
        <p:nvSpPr>
          <p:cNvPr id="128" name="Google Shape;128;p20"/>
          <p:cNvSpPr txBox="1"/>
          <p:nvPr>
            <p:ph idx="1" type="body"/>
          </p:nvPr>
        </p:nvSpPr>
        <p:spPr>
          <a:xfrm>
            <a:off x="94225" y="637325"/>
            <a:ext cx="8958900" cy="3497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sz="1200">
                <a:solidFill>
                  <a:srgbClr val="000000"/>
                </a:solidFill>
                <a:latin typeface="Roboto"/>
                <a:ea typeface="Roboto"/>
                <a:cs typeface="Roboto"/>
                <a:sym typeface="Roboto"/>
              </a:rPr>
              <a:t>Es un proceso fundamental en la gestión y análisis de datos. El conocimiento claro de lo que es el ETL es importante por varias razones:</a:t>
            </a:r>
            <a:endParaRPr sz="1200">
              <a:solidFill>
                <a:srgbClr val="000000"/>
              </a:solidFill>
              <a:latin typeface="Roboto"/>
              <a:ea typeface="Roboto"/>
              <a:cs typeface="Roboto"/>
              <a:sym typeface="Roboto"/>
            </a:endParaRPr>
          </a:p>
          <a:p>
            <a:pPr indent="-304800" lvl="0" marL="457200" rtl="0" algn="l">
              <a:spcBef>
                <a:spcPts val="1500"/>
              </a:spcBef>
              <a:spcAft>
                <a:spcPts val="0"/>
              </a:spcAft>
              <a:buClr>
                <a:srgbClr val="000000"/>
              </a:buClr>
              <a:buSzPts val="1200"/>
              <a:buFont typeface="Roboto"/>
              <a:buAutoNum type="arabicPeriod"/>
            </a:pPr>
            <a:r>
              <a:rPr b="1" lang="es-419" sz="1200">
                <a:solidFill>
                  <a:srgbClr val="000000"/>
                </a:solidFill>
                <a:latin typeface="Roboto"/>
                <a:ea typeface="Roboto"/>
                <a:cs typeface="Roboto"/>
                <a:sym typeface="Roboto"/>
              </a:rPr>
              <a:t>Comprender el proceso</a:t>
            </a:r>
            <a:r>
              <a:rPr lang="es-419" sz="1200">
                <a:solidFill>
                  <a:srgbClr val="000000"/>
                </a:solidFill>
                <a:latin typeface="Roboto"/>
                <a:ea typeface="Roboto"/>
                <a:cs typeface="Roboto"/>
                <a:sym typeface="Roboto"/>
              </a:rPr>
              <a:t>: El ETL es un proceso complejo que implica extraer datos de diversas fuentes, transformarlos y cargarlos en un sistema de destino. Es importante tener un conocimiento claro de este proceso para entender cómo funciona y poder realizar tareas relacionadas con el ETL de manera efectiva.</a:t>
            </a:r>
            <a:endParaRPr sz="1200">
              <a:solidFill>
                <a:srgbClr val="000000"/>
              </a:solidFill>
              <a:latin typeface="Roboto"/>
              <a:ea typeface="Roboto"/>
              <a:cs typeface="Roboto"/>
              <a:sym typeface="Roboto"/>
            </a:endParaRPr>
          </a:p>
          <a:p>
            <a:pPr indent="-304800" lvl="0" marL="457200" rtl="0" algn="l">
              <a:spcBef>
                <a:spcPts val="0"/>
              </a:spcBef>
              <a:spcAft>
                <a:spcPts val="0"/>
              </a:spcAft>
              <a:buClr>
                <a:srgbClr val="000000"/>
              </a:buClr>
              <a:buSzPts val="1200"/>
              <a:buFont typeface="Roboto"/>
              <a:buAutoNum type="arabicPeriod"/>
            </a:pPr>
            <a:r>
              <a:rPr b="1" lang="es-419" sz="1200">
                <a:solidFill>
                  <a:srgbClr val="000000"/>
                </a:solidFill>
                <a:latin typeface="Roboto"/>
                <a:ea typeface="Roboto"/>
                <a:cs typeface="Roboto"/>
                <a:sym typeface="Roboto"/>
              </a:rPr>
              <a:t>Asegurar la calidad de los datos</a:t>
            </a:r>
            <a:r>
              <a:rPr lang="es-419" sz="1200">
                <a:solidFill>
                  <a:srgbClr val="000000"/>
                </a:solidFill>
                <a:latin typeface="Roboto"/>
                <a:ea typeface="Roboto"/>
                <a:cs typeface="Roboto"/>
                <a:sym typeface="Roboto"/>
              </a:rPr>
              <a:t>: La calidad de los datos es crítica en cualquier proyecto de análisis de datos. El proceso de ETL puede influir en la calidad de los datos. Por lo tanto, es importante tener un conocimiento claro del ETL para asegurar la calidad de los datos.</a:t>
            </a:r>
            <a:endParaRPr sz="1200">
              <a:solidFill>
                <a:srgbClr val="000000"/>
              </a:solidFill>
              <a:latin typeface="Roboto"/>
              <a:ea typeface="Roboto"/>
              <a:cs typeface="Roboto"/>
              <a:sym typeface="Roboto"/>
            </a:endParaRPr>
          </a:p>
          <a:p>
            <a:pPr indent="-304800" lvl="0" marL="457200" rtl="0" algn="l">
              <a:spcBef>
                <a:spcPts val="0"/>
              </a:spcBef>
              <a:spcAft>
                <a:spcPts val="0"/>
              </a:spcAft>
              <a:buClr>
                <a:srgbClr val="000000"/>
              </a:buClr>
              <a:buSzPts val="1200"/>
              <a:buFont typeface="Roboto"/>
              <a:buAutoNum type="arabicPeriod"/>
            </a:pPr>
            <a:r>
              <a:rPr b="1" lang="es-419" sz="1200">
                <a:solidFill>
                  <a:srgbClr val="000000"/>
                </a:solidFill>
                <a:latin typeface="Roboto"/>
                <a:ea typeface="Roboto"/>
                <a:cs typeface="Roboto"/>
                <a:sym typeface="Roboto"/>
              </a:rPr>
              <a:t>Optimizar el rendimiento</a:t>
            </a:r>
            <a:r>
              <a:rPr lang="es-419" sz="1200">
                <a:solidFill>
                  <a:srgbClr val="000000"/>
                </a:solidFill>
                <a:latin typeface="Roboto"/>
                <a:ea typeface="Roboto"/>
                <a:cs typeface="Roboto"/>
                <a:sym typeface="Roboto"/>
              </a:rPr>
              <a:t>: El proceso de ETL puede ser muy costoso en términos de tiempo y recursos. Un conocimiento claro del ETL puede ayudar a optimizar el rendimiento del proceso y garantizar que se esté utilizando de manera eficiente los recursos disponibles.</a:t>
            </a:r>
            <a:endParaRPr sz="1200">
              <a:solidFill>
                <a:srgbClr val="000000"/>
              </a:solidFill>
              <a:latin typeface="Roboto"/>
              <a:ea typeface="Roboto"/>
              <a:cs typeface="Roboto"/>
              <a:sym typeface="Roboto"/>
            </a:endParaRPr>
          </a:p>
          <a:p>
            <a:pPr indent="-304800" lvl="0" marL="457200" rtl="0" algn="l">
              <a:spcBef>
                <a:spcPts val="0"/>
              </a:spcBef>
              <a:spcAft>
                <a:spcPts val="0"/>
              </a:spcAft>
              <a:buClr>
                <a:srgbClr val="000000"/>
              </a:buClr>
              <a:buSzPts val="1200"/>
              <a:buFont typeface="Roboto"/>
              <a:buAutoNum type="arabicPeriod"/>
            </a:pPr>
            <a:r>
              <a:rPr b="1" lang="es-419" sz="1200">
                <a:solidFill>
                  <a:srgbClr val="000000"/>
                </a:solidFill>
                <a:latin typeface="Roboto"/>
                <a:ea typeface="Roboto"/>
                <a:cs typeface="Roboto"/>
                <a:sym typeface="Roboto"/>
              </a:rPr>
              <a:t>Tomar decisiones informadas</a:t>
            </a:r>
            <a:r>
              <a:rPr lang="es-419" sz="1200">
                <a:solidFill>
                  <a:srgbClr val="000000"/>
                </a:solidFill>
                <a:latin typeface="Roboto"/>
                <a:ea typeface="Roboto"/>
                <a:cs typeface="Roboto"/>
                <a:sym typeface="Roboto"/>
              </a:rPr>
              <a:t>: En el mundo de los negocios, tomar decisiones informadas basadas en datos es crucial. Un conocimiento claro del ETL permite comprender mejor los datos y cómo se están transformando, lo que a su vez permite tomar decisiones más informadas y fundamentadas.</a:t>
            </a:r>
            <a:endParaRPr sz="1200">
              <a:solidFill>
                <a:srgbClr val="000000"/>
              </a:solidFill>
              <a:latin typeface="Roboto"/>
              <a:ea typeface="Roboto"/>
              <a:cs typeface="Roboto"/>
              <a:sym typeface="Roboto"/>
            </a:endParaRPr>
          </a:p>
          <a:p>
            <a:pPr indent="0" lvl="0" marL="0" rtl="0" algn="l">
              <a:spcBef>
                <a:spcPts val="1500"/>
              </a:spcBef>
              <a:spcAft>
                <a:spcPts val="1500"/>
              </a:spcAft>
              <a:buNone/>
            </a:pPr>
            <a:r>
              <a:rPr lang="es-419" sz="1200">
                <a:solidFill>
                  <a:srgbClr val="24292F"/>
                </a:solidFill>
                <a:latin typeface="Roboto"/>
                <a:ea typeface="Roboto"/>
                <a:cs typeface="Roboto"/>
                <a:sym typeface="Roboto"/>
              </a:rPr>
              <a:t>En resumen, tener un conocimiento claro del ETL es importante porque permite comprender el proceso, asegurar la calidad de los datos, optimizar el rendimiento y tomar decisiones informadas.</a:t>
            </a:r>
            <a:endParaRPr sz="1200">
              <a:solidFill>
                <a:srgbClr val="24292F"/>
              </a:solidFill>
              <a:latin typeface="Roboto"/>
              <a:ea typeface="Roboto"/>
              <a:cs typeface="Roboto"/>
              <a:sym typeface="Roboto"/>
            </a:endParaRPr>
          </a:p>
        </p:txBody>
      </p:sp>
      <p:pic>
        <p:nvPicPr>
          <p:cNvPr id="129" name="Google Shape;129;p20"/>
          <p:cNvPicPr preferRelativeResize="0"/>
          <p:nvPr/>
        </p:nvPicPr>
        <p:blipFill>
          <a:blip r:embed="rId3">
            <a:alphaModFix/>
          </a:blip>
          <a:stretch>
            <a:fillRect/>
          </a:stretch>
        </p:blipFill>
        <p:spPr>
          <a:xfrm>
            <a:off x="183450" y="4134424"/>
            <a:ext cx="2044175" cy="889349"/>
          </a:xfrm>
          <a:prstGeom prst="rect">
            <a:avLst/>
          </a:prstGeom>
          <a:noFill/>
          <a:ln>
            <a:noFill/>
          </a:ln>
        </p:spPr>
      </p:pic>
      <p:pic>
        <p:nvPicPr>
          <p:cNvPr id="130" name="Google Shape;130;p20"/>
          <p:cNvPicPr preferRelativeResize="0"/>
          <p:nvPr/>
        </p:nvPicPr>
        <p:blipFill>
          <a:blip r:embed="rId4">
            <a:alphaModFix/>
          </a:blip>
          <a:stretch>
            <a:fillRect/>
          </a:stretch>
        </p:blipFill>
        <p:spPr>
          <a:xfrm>
            <a:off x="5300927" y="4006800"/>
            <a:ext cx="2946728" cy="1016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idx="1" type="subTitle"/>
          </p:nvPr>
        </p:nvSpPr>
        <p:spPr>
          <a:xfrm>
            <a:off x="129775" y="1539225"/>
            <a:ext cx="7688100" cy="3255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es-419"/>
              <a:t>Recordemos</a:t>
            </a:r>
            <a:endParaRPr/>
          </a:p>
          <a:p>
            <a:pPr indent="-330200" lvl="0" marL="457200" rtl="0" algn="l">
              <a:spcBef>
                <a:spcPts val="0"/>
              </a:spcBef>
              <a:spcAft>
                <a:spcPts val="0"/>
              </a:spcAft>
              <a:buSzPts val="1600"/>
              <a:buAutoNum type="arabicPeriod"/>
            </a:pPr>
            <a:r>
              <a:rPr lang="es-419"/>
              <a:t>El proceso de ETL</a:t>
            </a:r>
            <a:endParaRPr/>
          </a:p>
          <a:p>
            <a:pPr indent="-330200" lvl="0" marL="457200" rtl="0" algn="l">
              <a:spcBef>
                <a:spcPts val="0"/>
              </a:spcBef>
              <a:spcAft>
                <a:spcPts val="0"/>
              </a:spcAft>
              <a:buSzPts val="1600"/>
              <a:buAutoNum type="arabicPeriod"/>
            </a:pPr>
            <a:r>
              <a:rPr lang="es-419"/>
              <a:t>Extracción de la información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¿Por dónde inicia entonces el ETL? … por la letra E…</a:t>
            </a:r>
            <a:endParaRPr/>
          </a:p>
        </p:txBody>
      </p:sp>
      <p:sp>
        <p:nvSpPr>
          <p:cNvPr id="141" name="Google Shape;141;p22"/>
          <p:cNvSpPr txBox="1"/>
          <p:nvPr>
            <p:ph idx="1" type="body"/>
          </p:nvPr>
        </p:nvSpPr>
        <p:spPr>
          <a:xfrm>
            <a:off x="135875" y="1453475"/>
            <a:ext cx="8283300" cy="941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 —&gt; Extracción —&gt;Ingesta de los datos…</a:t>
            </a:r>
            <a:endParaRPr/>
          </a:p>
        </p:txBody>
      </p:sp>
      <p:pic>
        <p:nvPicPr>
          <p:cNvPr id="142" name="Google Shape;142;p22"/>
          <p:cNvPicPr preferRelativeResize="0"/>
          <p:nvPr/>
        </p:nvPicPr>
        <p:blipFill>
          <a:blip r:embed="rId3">
            <a:alphaModFix/>
          </a:blip>
          <a:stretch>
            <a:fillRect/>
          </a:stretch>
        </p:blipFill>
        <p:spPr>
          <a:xfrm>
            <a:off x="604125" y="2552523"/>
            <a:ext cx="7493324" cy="2590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La </a:t>
            </a:r>
            <a:r>
              <a:rPr lang="es-419"/>
              <a:t>extracción</a:t>
            </a:r>
            <a:r>
              <a:rPr lang="es-419"/>
              <a:t> de la información</a:t>
            </a:r>
            <a:endParaRPr/>
          </a:p>
        </p:txBody>
      </p:sp>
      <p:sp>
        <p:nvSpPr>
          <p:cNvPr id="148" name="Google Shape;148;p23"/>
          <p:cNvSpPr txBox="1"/>
          <p:nvPr>
            <p:ph idx="1" type="body"/>
          </p:nvPr>
        </p:nvSpPr>
        <p:spPr>
          <a:xfrm>
            <a:off x="80825" y="1386925"/>
            <a:ext cx="5551800" cy="36885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s-419" sz="1200">
                <a:solidFill>
                  <a:srgbClr val="000000"/>
                </a:solidFill>
                <a:latin typeface="Roboto"/>
                <a:ea typeface="Roboto"/>
                <a:cs typeface="Roboto"/>
                <a:sym typeface="Roboto"/>
              </a:rPr>
              <a:t>La primera parte del proceso ETL consiste en extraer los datos desde los sistemas de origen. </a:t>
            </a:r>
            <a:endParaRPr sz="1200">
              <a:solidFill>
                <a:srgbClr val="000000"/>
              </a:solidFill>
              <a:latin typeface="Roboto"/>
              <a:ea typeface="Roboto"/>
              <a:cs typeface="Roboto"/>
              <a:sym typeface="Roboto"/>
            </a:endParaRPr>
          </a:p>
          <a:p>
            <a:pPr indent="0" lvl="0" marL="0" rtl="0" algn="just">
              <a:spcBef>
                <a:spcPts val="1200"/>
              </a:spcBef>
              <a:spcAft>
                <a:spcPts val="0"/>
              </a:spcAft>
              <a:buNone/>
            </a:pPr>
            <a:r>
              <a:rPr lang="es-419" sz="1200">
                <a:solidFill>
                  <a:srgbClr val="000000"/>
                </a:solidFill>
                <a:latin typeface="Roboto"/>
                <a:ea typeface="Roboto"/>
                <a:cs typeface="Roboto"/>
                <a:sym typeface="Roboto"/>
              </a:rPr>
              <a:t>La mayoría de los proyectos de almacenamiento de datos funcionan con datos provenientes de diferentes sistemas de origen (bases de datos en servidores, sobre todo en la nube, de APIs en páginas web, archivos planos, etc…).</a:t>
            </a:r>
            <a:endParaRPr sz="1200">
              <a:solidFill>
                <a:srgbClr val="000000"/>
              </a:solidFill>
              <a:latin typeface="Roboto"/>
              <a:ea typeface="Roboto"/>
              <a:cs typeface="Roboto"/>
              <a:sym typeface="Roboto"/>
            </a:endParaRPr>
          </a:p>
          <a:p>
            <a:pPr indent="0" lvl="0" marL="0" rtl="0" algn="just">
              <a:spcBef>
                <a:spcPts val="1200"/>
              </a:spcBef>
              <a:spcAft>
                <a:spcPts val="0"/>
              </a:spcAft>
              <a:buNone/>
            </a:pPr>
            <a:r>
              <a:rPr lang="es-419" sz="1200">
                <a:solidFill>
                  <a:srgbClr val="000000"/>
                </a:solidFill>
                <a:latin typeface="Roboto"/>
                <a:ea typeface="Roboto"/>
                <a:cs typeface="Roboto"/>
                <a:sym typeface="Roboto"/>
              </a:rPr>
              <a:t> Cada sistema separado puede usar una organización diferente de los datos o formatos distintos (¿Formatos? ¿qué quiere decir con formatos?).</a:t>
            </a:r>
            <a:endParaRPr sz="1200">
              <a:solidFill>
                <a:srgbClr val="000000"/>
              </a:solidFill>
              <a:latin typeface="Roboto"/>
              <a:ea typeface="Roboto"/>
              <a:cs typeface="Roboto"/>
              <a:sym typeface="Roboto"/>
            </a:endParaRPr>
          </a:p>
          <a:p>
            <a:pPr indent="0" lvl="0" marL="0" rtl="0" algn="just">
              <a:spcBef>
                <a:spcPts val="1200"/>
              </a:spcBef>
              <a:spcAft>
                <a:spcPts val="0"/>
              </a:spcAft>
              <a:buNone/>
            </a:pPr>
            <a:r>
              <a:rPr lang="es-419" sz="1200">
                <a:solidFill>
                  <a:srgbClr val="000000"/>
                </a:solidFill>
                <a:latin typeface="Roboto"/>
                <a:ea typeface="Roboto"/>
                <a:cs typeface="Roboto"/>
                <a:sym typeface="Roboto"/>
              </a:rPr>
              <a:t> Los formatos de las fuentes normalmente se encuentran en bases de datos relacionales o ficheros planos, pero pueden incluir bases de datos no relacionales u otras estructuras diferentes, </a:t>
            </a:r>
            <a:r>
              <a:rPr lang="es-419" sz="1200">
                <a:solidFill>
                  <a:srgbClr val="000000"/>
                </a:solidFill>
                <a:latin typeface="Roboto"/>
                <a:ea typeface="Roboto"/>
                <a:cs typeface="Roboto"/>
                <a:sym typeface="Roboto"/>
              </a:rPr>
              <a:t>extensión</a:t>
            </a:r>
            <a:r>
              <a:rPr lang="es-419" sz="1200">
                <a:solidFill>
                  <a:srgbClr val="000000"/>
                </a:solidFill>
                <a:latin typeface="Roboto"/>
                <a:ea typeface="Roboto"/>
                <a:cs typeface="Roboto"/>
                <a:sym typeface="Roboto"/>
              </a:rPr>
              <a:t> .parquet, entre otro montón….</a:t>
            </a:r>
            <a:endParaRPr sz="1200">
              <a:solidFill>
                <a:srgbClr val="000000"/>
              </a:solidFill>
              <a:latin typeface="Roboto"/>
              <a:ea typeface="Roboto"/>
              <a:cs typeface="Roboto"/>
              <a:sym typeface="Roboto"/>
            </a:endParaRPr>
          </a:p>
          <a:p>
            <a:pPr indent="0" lvl="0" marL="0" rtl="0" algn="just">
              <a:spcBef>
                <a:spcPts val="1200"/>
              </a:spcBef>
              <a:spcAft>
                <a:spcPts val="1200"/>
              </a:spcAft>
              <a:buNone/>
            </a:pPr>
            <a:r>
              <a:rPr lang="es-419" sz="1200">
                <a:solidFill>
                  <a:srgbClr val="000000"/>
                </a:solidFill>
                <a:latin typeface="Roboto"/>
                <a:ea typeface="Roboto"/>
                <a:cs typeface="Roboto"/>
                <a:sym typeface="Roboto"/>
              </a:rPr>
              <a:t> La extracción convierte los datos a un formato preparado para iniciar el proceso de transformación, pero debe de saber el cómo deberá consumir esa información.</a:t>
            </a:r>
            <a:endParaRPr/>
          </a:p>
        </p:txBody>
      </p:sp>
      <p:pic>
        <p:nvPicPr>
          <p:cNvPr id="149" name="Google Shape;149;p23"/>
          <p:cNvPicPr preferRelativeResize="0"/>
          <p:nvPr/>
        </p:nvPicPr>
        <p:blipFill>
          <a:blip r:embed="rId3">
            <a:alphaModFix/>
          </a:blip>
          <a:stretch>
            <a:fillRect/>
          </a:stretch>
        </p:blipFill>
        <p:spPr>
          <a:xfrm>
            <a:off x="5823325" y="1474150"/>
            <a:ext cx="3206575" cy="3206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97600" y="544075"/>
            <a:ext cx="86112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¿Cuál es el tipo de formatos que podemos extraer?</a:t>
            </a:r>
            <a:endParaRPr/>
          </a:p>
        </p:txBody>
      </p:sp>
      <p:sp>
        <p:nvSpPr>
          <p:cNvPr id="155" name="Google Shape;155;p24"/>
          <p:cNvSpPr txBox="1"/>
          <p:nvPr>
            <p:ph idx="1" type="body"/>
          </p:nvPr>
        </p:nvSpPr>
        <p:spPr>
          <a:xfrm>
            <a:off x="180650" y="1427950"/>
            <a:ext cx="8528100" cy="36093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s-419" sz="1200">
                <a:solidFill>
                  <a:srgbClr val="24292F"/>
                </a:solidFill>
                <a:latin typeface="Roboto"/>
                <a:ea typeface="Roboto"/>
                <a:cs typeface="Roboto"/>
                <a:sym typeface="Roboto"/>
              </a:rPr>
              <a:t>En el proceso de ETL (Extract, Transform, Load), se pueden extraer diferentes tipos de formatos de datos dependiendo de las fuentes de datos y de las herramientas utilizadas para extraerlos. Algunos ejemplos de formatos de datos que se pueden extraer durante el proceso de ETL son:</a:t>
            </a:r>
            <a:endParaRPr sz="1200">
              <a:solidFill>
                <a:srgbClr val="24292F"/>
              </a:solidFill>
              <a:latin typeface="Roboto"/>
              <a:ea typeface="Roboto"/>
              <a:cs typeface="Roboto"/>
              <a:sym typeface="Roboto"/>
            </a:endParaRPr>
          </a:p>
          <a:p>
            <a:pPr indent="-293370" lvl="0" marL="457200" rtl="0" algn="l">
              <a:spcBef>
                <a:spcPts val="1500"/>
              </a:spcBef>
              <a:spcAft>
                <a:spcPts val="0"/>
              </a:spcAft>
              <a:buClr>
                <a:srgbClr val="24292F"/>
              </a:buClr>
              <a:buSzPct val="100000"/>
              <a:buFont typeface="Roboto"/>
              <a:buAutoNum type="arabicPeriod"/>
            </a:pPr>
            <a:r>
              <a:rPr b="1" lang="es-419" sz="1200">
                <a:solidFill>
                  <a:srgbClr val="24292F"/>
                </a:solidFill>
                <a:latin typeface="Roboto"/>
                <a:ea typeface="Roboto"/>
                <a:cs typeface="Roboto"/>
                <a:sym typeface="Roboto"/>
              </a:rPr>
              <a:t>Archivos de texto</a:t>
            </a:r>
            <a:r>
              <a:rPr lang="es-419" sz="1200">
                <a:solidFill>
                  <a:srgbClr val="24292F"/>
                </a:solidFill>
                <a:latin typeface="Roboto"/>
                <a:ea typeface="Roboto"/>
                <a:cs typeface="Roboto"/>
                <a:sym typeface="Roboto"/>
              </a:rPr>
              <a:t>: Los archivos de texto son uno de los formatos más comunes que se pueden extraer durante el proceso de ETL. Estos pueden incluir archivos con formato CSV (comma-separated values), TXT (texto sin formato), XML (extensible markup language), JSON (JavaScript Object Notation), entre otros.</a:t>
            </a:r>
            <a:endParaRPr sz="1200">
              <a:solidFill>
                <a:srgbClr val="24292F"/>
              </a:solidFill>
              <a:latin typeface="Roboto"/>
              <a:ea typeface="Roboto"/>
              <a:cs typeface="Roboto"/>
              <a:sym typeface="Roboto"/>
            </a:endParaRPr>
          </a:p>
          <a:p>
            <a:pPr indent="-293370" lvl="0" marL="457200" rtl="0" algn="l">
              <a:spcBef>
                <a:spcPts val="0"/>
              </a:spcBef>
              <a:spcAft>
                <a:spcPts val="0"/>
              </a:spcAft>
              <a:buClr>
                <a:srgbClr val="24292F"/>
              </a:buClr>
              <a:buSzPct val="100000"/>
              <a:buFont typeface="Roboto"/>
              <a:buAutoNum type="arabicPeriod"/>
            </a:pPr>
            <a:r>
              <a:rPr b="1" lang="es-419" sz="1200">
                <a:solidFill>
                  <a:srgbClr val="24292F"/>
                </a:solidFill>
                <a:latin typeface="Roboto"/>
                <a:ea typeface="Roboto"/>
                <a:cs typeface="Roboto"/>
                <a:sym typeface="Roboto"/>
              </a:rPr>
              <a:t>Archivos de base de datos</a:t>
            </a:r>
            <a:r>
              <a:rPr lang="es-419" sz="1200">
                <a:solidFill>
                  <a:srgbClr val="24292F"/>
                </a:solidFill>
                <a:latin typeface="Roboto"/>
                <a:ea typeface="Roboto"/>
                <a:cs typeface="Roboto"/>
                <a:sym typeface="Roboto"/>
              </a:rPr>
              <a:t>: Las bases de datos son una de las fuentes de datos más importantes y comunes durante el proceso de ETL. Estos pueden incluir formatos como SQL (Structured Query Language), Oracle, MySQL, PostgreSQL, entre otros.</a:t>
            </a:r>
            <a:endParaRPr sz="1200">
              <a:solidFill>
                <a:srgbClr val="24292F"/>
              </a:solidFill>
              <a:latin typeface="Roboto"/>
              <a:ea typeface="Roboto"/>
              <a:cs typeface="Roboto"/>
              <a:sym typeface="Roboto"/>
            </a:endParaRPr>
          </a:p>
          <a:p>
            <a:pPr indent="-293370" lvl="0" marL="457200" rtl="0" algn="l">
              <a:spcBef>
                <a:spcPts val="0"/>
              </a:spcBef>
              <a:spcAft>
                <a:spcPts val="0"/>
              </a:spcAft>
              <a:buClr>
                <a:srgbClr val="24292F"/>
              </a:buClr>
              <a:buSzPct val="100000"/>
              <a:buFont typeface="Roboto"/>
              <a:buAutoNum type="arabicPeriod"/>
            </a:pPr>
            <a:r>
              <a:rPr b="1" lang="es-419" sz="1200">
                <a:solidFill>
                  <a:srgbClr val="24292F"/>
                </a:solidFill>
                <a:latin typeface="Roboto"/>
                <a:ea typeface="Roboto"/>
                <a:cs typeface="Roboto"/>
                <a:sym typeface="Roboto"/>
              </a:rPr>
              <a:t>Archivos de hojas de cálculo</a:t>
            </a:r>
            <a:r>
              <a:rPr lang="es-419" sz="1200">
                <a:solidFill>
                  <a:srgbClr val="24292F"/>
                </a:solidFill>
                <a:latin typeface="Roboto"/>
                <a:ea typeface="Roboto"/>
                <a:cs typeface="Roboto"/>
                <a:sym typeface="Roboto"/>
              </a:rPr>
              <a:t>: Las hojas de cálculo son otro formato de datos común que se pueden extraer durante el proceso de ETL. Estos pueden incluir archivos en formato XLS (Excel Spreadsheet), XLSX (Excel Open XML), CSV, entre otros.</a:t>
            </a:r>
            <a:endParaRPr sz="1200">
              <a:solidFill>
                <a:srgbClr val="24292F"/>
              </a:solidFill>
              <a:latin typeface="Roboto"/>
              <a:ea typeface="Roboto"/>
              <a:cs typeface="Roboto"/>
              <a:sym typeface="Roboto"/>
            </a:endParaRPr>
          </a:p>
          <a:p>
            <a:pPr indent="-293370" lvl="0" marL="457200" rtl="0" algn="l">
              <a:spcBef>
                <a:spcPts val="0"/>
              </a:spcBef>
              <a:spcAft>
                <a:spcPts val="0"/>
              </a:spcAft>
              <a:buClr>
                <a:srgbClr val="24292F"/>
              </a:buClr>
              <a:buSzPct val="100000"/>
              <a:buFont typeface="Roboto"/>
              <a:buAutoNum type="arabicPeriod"/>
            </a:pPr>
            <a:r>
              <a:rPr b="1" lang="es-419" sz="1200">
                <a:solidFill>
                  <a:srgbClr val="24292F"/>
                </a:solidFill>
                <a:latin typeface="Roboto"/>
                <a:ea typeface="Roboto"/>
                <a:cs typeface="Roboto"/>
                <a:sym typeface="Roboto"/>
              </a:rPr>
              <a:t>Archivos de log</a:t>
            </a:r>
            <a:r>
              <a:rPr lang="es-419" sz="1200">
                <a:solidFill>
                  <a:srgbClr val="24292F"/>
                </a:solidFill>
                <a:latin typeface="Roboto"/>
                <a:ea typeface="Roboto"/>
                <a:cs typeface="Roboto"/>
                <a:sym typeface="Roboto"/>
              </a:rPr>
              <a:t>: Los archivos de log son una fuente de datos importante en el proceso de ETL, ya que pueden proporcionar información detallada sobre las operaciones que se están realizando. Estos pueden incluir archivos en formato TXT, XML, JSON, entre otros.</a:t>
            </a:r>
            <a:endParaRPr sz="1200">
              <a:solidFill>
                <a:srgbClr val="24292F"/>
              </a:solidFill>
              <a:latin typeface="Roboto"/>
              <a:ea typeface="Roboto"/>
              <a:cs typeface="Roboto"/>
              <a:sym typeface="Roboto"/>
            </a:endParaRPr>
          </a:p>
          <a:p>
            <a:pPr indent="-293370" lvl="0" marL="457200" rtl="0" algn="l">
              <a:spcBef>
                <a:spcPts val="0"/>
              </a:spcBef>
              <a:spcAft>
                <a:spcPts val="0"/>
              </a:spcAft>
              <a:buClr>
                <a:srgbClr val="24292F"/>
              </a:buClr>
              <a:buSzPct val="100000"/>
              <a:buFont typeface="Roboto"/>
              <a:buAutoNum type="arabicPeriod"/>
            </a:pPr>
            <a:r>
              <a:rPr b="1" lang="es-419" sz="1200">
                <a:solidFill>
                  <a:srgbClr val="24292F"/>
                </a:solidFill>
                <a:latin typeface="Roboto"/>
                <a:ea typeface="Roboto"/>
                <a:cs typeface="Roboto"/>
                <a:sym typeface="Roboto"/>
              </a:rPr>
              <a:t>Archivos de correo electrónico</a:t>
            </a:r>
            <a:r>
              <a:rPr lang="es-419" sz="1200">
                <a:solidFill>
                  <a:srgbClr val="24292F"/>
                </a:solidFill>
                <a:latin typeface="Roboto"/>
                <a:ea typeface="Roboto"/>
                <a:cs typeface="Roboto"/>
                <a:sym typeface="Roboto"/>
              </a:rPr>
              <a:t>: Los correos electrónicos son una fuente de datos importante para el proceso de ETL, ya que pueden contener información valiosa sobre clientes, proveedores, ventas, entre otros. Estos pueden incluir archivos en formato EML, MSG, PST, entre otros.</a:t>
            </a:r>
            <a:endParaRPr sz="1200">
              <a:solidFill>
                <a:srgbClr val="24292F"/>
              </a:solidFill>
              <a:latin typeface="Roboto"/>
              <a:ea typeface="Roboto"/>
              <a:cs typeface="Roboto"/>
              <a:sym typeface="Roboto"/>
            </a:endParaRPr>
          </a:p>
          <a:p>
            <a:pPr indent="-293370" lvl="0" marL="457200" rtl="0" algn="l">
              <a:spcBef>
                <a:spcPts val="0"/>
              </a:spcBef>
              <a:spcAft>
                <a:spcPts val="0"/>
              </a:spcAft>
              <a:buClr>
                <a:srgbClr val="24292F"/>
              </a:buClr>
              <a:buSzPct val="100000"/>
              <a:buFont typeface="Roboto"/>
              <a:buAutoNum type="arabicPeriod"/>
            </a:pPr>
            <a:r>
              <a:rPr b="1" lang="es-419" sz="1200">
                <a:solidFill>
                  <a:srgbClr val="24292F"/>
                </a:solidFill>
                <a:latin typeface="Roboto"/>
                <a:ea typeface="Roboto"/>
                <a:cs typeface="Roboto"/>
                <a:sym typeface="Roboto"/>
              </a:rPr>
              <a:t>Web Scrapping</a:t>
            </a:r>
            <a:r>
              <a:rPr lang="es-419" sz="1200">
                <a:solidFill>
                  <a:srgbClr val="24292F"/>
                </a:solidFill>
                <a:latin typeface="Roboto"/>
                <a:ea typeface="Roboto"/>
                <a:cs typeface="Roboto"/>
                <a:sym typeface="Roboto"/>
              </a:rPr>
              <a:t>: la información está en la web en formato .JSON, .html o .XML, u esta se puede extraer.</a:t>
            </a:r>
            <a:endParaRPr sz="1200">
              <a:solidFill>
                <a:srgbClr val="24292F"/>
              </a:solidFill>
              <a:latin typeface="Roboto"/>
              <a:ea typeface="Roboto"/>
              <a:cs typeface="Roboto"/>
              <a:sym typeface="Roboto"/>
            </a:endParaRPr>
          </a:p>
          <a:p>
            <a:pPr indent="0" lvl="0" marL="0" rtl="0" algn="l">
              <a:spcBef>
                <a:spcPts val="1500"/>
              </a:spcBef>
              <a:spcAft>
                <a:spcPts val="1200"/>
              </a:spcAft>
              <a:buNone/>
            </a:pPr>
            <a:r>
              <a:rPr lang="es-419" sz="1200">
                <a:solidFill>
                  <a:srgbClr val="24292F"/>
                </a:solidFill>
                <a:latin typeface="Roboto"/>
                <a:ea typeface="Roboto"/>
                <a:cs typeface="Roboto"/>
                <a:sym typeface="Roboto"/>
              </a:rPr>
              <a:t>Iniciaremos con la base: alchivos de hojas de cálculo, pero veremos todos los tipos.</a:t>
            </a:r>
            <a:endParaRPr sz="1200">
              <a:solidFill>
                <a:srgbClr val="D1D5DB"/>
              </a:solidFill>
              <a:highlight>
                <a:srgbClr val="444654"/>
              </a:highlight>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Iniciemos con la extracción</a:t>
            </a:r>
            <a:endParaRPr/>
          </a:p>
        </p:txBody>
      </p:sp>
      <p:sp>
        <p:nvSpPr>
          <p:cNvPr id="161" name="Google Shape;161;p25"/>
          <p:cNvSpPr/>
          <p:nvPr/>
        </p:nvSpPr>
        <p:spPr>
          <a:xfrm>
            <a:off x="336100" y="1680475"/>
            <a:ext cx="3241800" cy="317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 name="Google Shape;162;p25"/>
          <p:cNvPicPr preferRelativeResize="0"/>
          <p:nvPr/>
        </p:nvPicPr>
        <p:blipFill>
          <a:blip r:embed="rId3">
            <a:alphaModFix/>
          </a:blip>
          <a:stretch>
            <a:fillRect/>
          </a:stretch>
        </p:blipFill>
        <p:spPr>
          <a:xfrm>
            <a:off x="667950" y="1973936"/>
            <a:ext cx="7493324" cy="2590975"/>
          </a:xfrm>
          <a:prstGeom prst="rect">
            <a:avLst/>
          </a:prstGeom>
          <a:noFill/>
          <a:ln>
            <a:noFill/>
          </a:ln>
        </p:spPr>
      </p:pic>
      <p:cxnSp>
        <p:nvCxnSpPr>
          <p:cNvPr id="163" name="Google Shape;163;p25"/>
          <p:cNvCxnSpPr/>
          <p:nvPr/>
        </p:nvCxnSpPr>
        <p:spPr>
          <a:xfrm flipH="1">
            <a:off x="3577775" y="1948500"/>
            <a:ext cx="12900" cy="2654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idx="1" type="subTitle"/>
          </p:nvPr>
        </p:nvSpPr>
        <p:spPr>
          <a:xfrm>
            <a:off x="129775" y="1539225"/>
            <a:ext cx="7688100" cy="3255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es-419"/>
              <a:t>Recordemos</a:t>
            </a:r>
            <a:endParaRPr/>
          </a:p>
          <a:p>
            <a:pPr indent="-330200" lvl="0" marL="457200" rtl="0" algn="l">
              <a:spcBef>
                <a:spcPts val="0"/>
              </a:spcBef>
              <a:spcAft>
                <a:spcPts val="0"/>
              </a:spcAft>
              <a:buSzPts val="1600"/>
              <a:buAutoNum type="arabicPeriod"/>
            </a:pPr>
            <a:r>
              <a:rPr lang="es-419"/>
              <a:t>El proceso de ETL</a:t>
            </a:r>
            <a:endParaRPr/>
          </a:p>
          <a:p>
            <a:pPr indent="-330200" lvl="0" marL="457200" rtl="0" algn="l">
              <a:spcBef>
                <a:spcPts val="0"/>
              </a:spcBef>
              <a:spcAft>
                <a:spcPts val="0"/>
              </a:spcAft>
              <a:buSzPts val="1600"/>
              <a:buAutoNum type="arabicPeriod"/>
            </a:pPr>
            <a:r>
              <a:rPr lang="es-419"/>
              <a:t>Extracción de la información</a:t>
            </a:r>
            <a:endParaRPr/>
          </a:p>
          <a:p>
            <a:pPr indent="-330200" lvl="0" marL="457200" rtl="0" algn="l">
              <a:spcBef>
                <a:spcPts val="0"/>
              </a:spcBef>
              <a:spcAft>
                <a:spcPts val="0"/>
              </a:spcAft>
              <a:buSzPts val="1600"/>
              <a:buAutoNum type="arabicPeriod"/>
            </a:pPr>
            <a:r>
              <a:rPr lang="es-419"/>
              <a:t>Establecer el espacio de trabajo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Primero: establecer el espacio de trabajo.</a:t>
            </a:r>
            <a:endParaRPr/>
          </a:p>
        </p:txBody>
      </p:sp>
      <p:sp>
        <p:nvSpPr>
          <p:cNvPr id="174" name="Google Shape;174;p27"/>
          <p:cNvSpPr txBox="1"/>
          <p:nvPr>
            <p:ph idx="1" type="body"/>
          </p:nvPr>
        </p:nvSpPr>
        <p:spPr>
          <a:xfrm>
            <a:off x="135875" y="1619400"/>
            <a:ext cx="5643600" cy="322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Ya sea que se trabaje local, en un servidor, en una solución como Databricks, etc., lo primero es determinar nuestro espacio de trabajo dado que ahí es donde además, creamos luego nuestras cargas (próximos capítulos).</a:t>
            </a:r>
            <a:endParaRPr/>
          </a:p>
          <a:p>
            <a:pPr indent="0" lvl="0" marL="0" rtl="0" algn="l">
              <a:spcBef>
                <a:spcPts val="1200"/>
              </a:spcBef>
              <a:spcAft>
                <a:spcPts val="0"/>
              </a:spcAft>
              <a:buNone/>
            </a:pPr>
            <a:r>
              <a:rPr lang="es-419"/>
              <a:t>Esto sin duda, aportará mucho orden.</a:t>
            </a:r>
            <a:endParaRPr/>
          </a:p>
          <a:p>
            <a:pPr indent="0" lvl="0" marL="0" rtl="0" algn="l">
              <a:spcBef>
                <a:spcPts val="1200"/>
              </a:spcBef>
              <a:spcAft>
                <a:spcPts val="0"/>
              </a:spcAft>
              <a:buNone/>
            </a:pPr>
            <a:r>
              <a:rPr lang="es-419"/>
              <a:t>El módulo ‘</a:t>
            </a:r>
            <a:r>
              <a:rPr b="1" lang="es-419"/>
              <a:t>os’</a:t>
            </a:r>
            <a:r>
              <a:rPr lang="es-419"/>
              <a:t> de Python proporciona funciones para interactuar con el sistema operativo en el que se está ejecutando Python.</a:t>
            </a:r>
            <a:endParaRPr/>
          </a:p>
          <a:p>
            <a:pPr indent="0" lvl="0" marL="0" rtl="0" algn="l">
              <a:spcBef>
                <a:spcPts val="1200"/>
              </a:spcBef>
              <a:spcAft>
                <a:spcPts val="1200"/>
              </a:spcAft>
              <a:buNone/>
            </a:pPr>
            <a:r>
              <a:rPr lang="es-419"/>
              <a:t> Puede usar este módulo para establecer su espacio de trabajo en Python de varias maneras, por ejemplo, establecer el directorio de trabajo actual, crear o eliminar directorios, obtener información del sistema, entre otros</a:t>
            </a:r>
            <a:r>
              <a:rPr lang="es-419" sz="1200">
                <a:solidFill>
                  <a:srgbClr val="24292F"/>
                </a:solidFill>
                <a:latin typeface="Roboto"/>
                <a:ea typeface="Roboto"/>
                <a:cs typeface="Roboto"/>
                <a:sym typeface="Roboto"/>
              </a:rPr>
              <a:t>.</a:t>
            </a:r>
            <a:endParaRPr>
              <a:solidFill>
                <a:srgbClr val="24292F"/>
              </a:solidFill>
            </a:endParaRPr>
          </a:p>
        </p:txBody>
      </p:sp>
      <p:pic>
        <p:nvPicPr>
          <p:cNvPr id="175" name="Google Shape;175;p27"/>
          <p:cNvPicPr preferRelativeResize="0"/>
          <p:nvPr/>
        </p:nvPicPr>
        <p:blipFill>
          <a:blip r:embed="rId3">
            <a:alphaModFix/>
          </a:blip>
          <a:stretch>
            <a:fillRect/>
          </a:stretch>
        </p:blipFill>
        <p:spPr>
          <a:xfrm>
            <a:off x="6077975" y="1742225"/>
            <a:ext cx="2972276" cy="2758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Un ejemplo de espacio de trabajo.</a:t>
            </a:r>
            <a:endParaRPr/>
          </a:p>
        </p:txBody>
      </p:sp>
      <p:sp>
        <p:nvSpPr>
          <p:cNvPr id="181" name="Google Shape;181;p28"/>
          <p:cNvSpPr txBox="1"/>
          <p:nvPr>
            <p:ph idx="1" type="body"/>
          </p:nvPr>
        </p:nvSpPr>
        <p:spPr>
          <a:xfrm>
            <a:off x="244450" y="1568350"/>
            <a:ext cx="3550500" cy="307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Tenemos ciertos archivos que vamos a extraer (importar, o ingestar), para luego ser analizados en Python.</a:t>
            </a:r>
            <a:endParaRPr/>
          </a:p>
          <a:p>
            <a:pPr indent="0" lvl="0" marL="0" rtl="0" algn="l">
              <a:spcBef>
                <a:spcPts val="1200"/>
              </a:spcBef>
              <a:spcAft>
                <a:spcPts val="1200"/>
              </a:spcAft>
              <a:buNone/>
            </a:pPr>
            <a:r>
              <a:rPr lang="es-419"/>
              <a:t>Entonces estamos diciendo que lo primero que haremos es, decir que trabajaremos en un determinado sitio, y que en dicho sitio, entonces yo extraeré los archivos. </a:t>
            </a:r>
            <a:endParaRPr/>
          </a:p>
        </p:txBody>
      </p:sp>
      <p:pic>
        <p:nvPicPr>
          <p:cNvPr id="182" name="Google Shape;182;p28"/>
          <p:cNvPicPr preferRelativeResize="0"/>
          <p:nvPr/>
        </p:nvPicPr>
        <p:blipFill>
          <a:blip r:embed="rId3">
            <a:alphaModFix/>
          </a:blip>
          <a:stretch>
            <a:fillRect/>
          </a:stretch>
        </p:blipFill>
        <p:spPr>
          <a:xfrm>
            <a:off x="4678833" y="1104800"/>
            <a:ext cx="4122217" cy="3809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Es 100% necesario ? … No </a:t>
            </a:r>
            <a:endParaRPr/>
          </a:p>
        </p:txBody>
      </p:sp>
      <p:sp>
        <p:nvSpPr>
          <p:cNvPr id="188" name="Google Shape;188;p29"/>
          <p:cNvSpPr txBox="1"/>
          <p:nvPr>
            <p:ph idx="1" type="body"/>
          </p:nvPr>
        </p:nvSpPr>
        <p:spPr>
          <a:xfrm>
            <a:off x="135875" y="1629600"/>
            <a:ext cx="8209800" cy="2646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Veremos que a veces no podemos </a:t>
            </a:r>
            <a:r>
              <a:rPr lang="es-419"/>
              <a:t>ampliar</a:t>
            </a:r>
            <a:r>
              <a:rPr lang="es-419"/>
              <a:t> dicha forma.</a:t>
            </a:r>
            <a:endParaRPr/>
          </a:p>
        </p:txBody>
      </p:sp>
      <p:pic>
        <p:nvPicPr>
          <p:cNvPr id="189" name="Google Shape;189;p29"/>
          <p:cNvPicPr preferRelativeResize="0"/>
          <p:nvPr/>
        </p:nvPicPr>
        <p:blipFill>
          <a:blip r:embed="rId3">
            <a:alphaModFix/>
          </a:blip>
          <a:stretch>
            <a:fillRect/>
          </a:stretch>
        </p:blipFill>
        <p:spPr>
          <a:xfrm>
            <a:off x="5850475" y="1629600"/>
            <a:ext cx="3718300" cy="3718300"/>
          </a:xfrm>
          <a:prstGeom prst="rect">
            <a:avLst/>
          </a:prstGeom>
          <a:noFill/>
          <a:ln>
            <a:noFill/>
          </a:ln>
        </p:spPr>
      </p:pic>
      <p:pic>
        <p:nvPicPr>
          <p:cNvPr id="190" name="Google Shape;190;p29"/>
          <p:cNvPicPr preferRelativeResize="0"/>
          <p:nvPr/>
        </p:nvPicPr>
        <p:blipFill>
          <a:blip r:embed="rId4">
            <a:alphaModFix/>
          </a:blip>
          <a:stretch>
            <a:fillRect/>
          </a:stretch>
        </p:blipFill>
        <p:spPr>
          <a:xfrm>
            <a:off x="208475" y="2797050"/>
            <a:ext cx="5226600" cy="2252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idx="1" type="subTitle"/>
          </p:nvPr>
        </p:nvSpPr>
        <p:spPr>
          <a:xfrm>
            <a:off x="129775" y="1539225"/>
            <a:ext cx="7688100" cy="3255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es-419"/>
              <a:t>Recordemos</a:t>
            </a:r>
            <a:endParaRPr/>
          </a:p>
          <a:p>
            <a:pPr indent="-330200" lvl="0" marL="457200" rtl="0" algn="l">
              <a:spcBef>
                <a:spcPts val="0"/>
              </a:spcBef>
              <a:spcAft>
                <a:spcPts val="0"/>
              </a:spcAft>
              <a:buSzPts val="1600"/>
              <a:buAutoNum type="arabicPeriod"/>
            </a:pPr>
            <a:r>
              <a:rPr lang="es-419"/>
              <a:t>El proceso de ETL</a:t>
            </a:r>
            <a:endParaRPr/>
          </a:p>
          <a:p>
            <a:pPr indent="-330200" lvl="0" marL="457200" rtl="0" algn="l">
              <a:spcBef>
                <a:spcPts val="0"/>
              </a:spcBef>
              <a:spcAft>
                <a:spcPts val="0"/>
              </a:spcAft>
              <a:buSzPts val="1600"/>
              <a:buAutoNum type="arabicPeriod"/>
            </a:pPr>
            <a:r>
              <a:rPr lang="es-419"/>
              <a:t>Extracción de la información</a:t>
            </a:r>
            <a:endParaRPr/>
          </a:p>
          <a:p>
            <a:pPr indent="-330200" lvl="0" marL="457200" rtl="0" algn="l">
              <a:spcBef>
                <a:spcPts val="0"/>
              </a:spcBef>
              <a:spcAft>
                <a:spcPts val="0"/>
              </a:spcAft>
              <a:buSzPts val="1600"/>
              <a:buAutoNum type="arabicPeriod"/>
            </a:pPr>
            <a:r>
              <a:rPr lang="es-419"/>
              <a:t>Establecer el espacio de trabajo</a:t>
            </a:r>
            <a:endParaRPr/>
          </a:p>
          <a:p>
            <a:pPr indent="-330200" lvl="0" marL="457200" rtl="0" algn="l">
              <a:spcBef>
                <a:spcPts val="0"/>
              </a:spcBef>
              <a:spcAft>
                <a:spcPts val="0"/>
              </a:spcAft>
              <a:buSzPts val="1600"/>
              <a:buAutoNum type="arabicPeriod"/>
            </a:pPr>
            <a:r>
              <a:rPr lang="es-419"/>
              <a:t>Extraer la información en Python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Extracción de la información en Python (</a:t>
            </a:r>
            <a:r>
              <a:rPr lang="es-419"/>
              <a:t>1/3</a:t>
            </a:r>
            <a:r>
              <a:rPr lang="es-419"/>
              <a:t>)</a:t>
            </a:r>
            <a:endParaRPr/>
          </a:p>
        </p:txBody>
      </p:sp>
      <p:sp>
        <p:nvSpPr>
          <p:cNvPr id="201" name="Google Shape;201;p31"/>
          <p:cNvSpPr txBox="1"/>
          <p:nvPr>
            <p:ph idx="1" type="body"/>
          </p:nvPr>
        </p:nvSpPr>
        <p:spPr>
          <a:xfrm>
            <a:off x="135875" y="1441200"/>
            <a:ext cx="8853600" cy="2261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sz="1200">
                <a:solidFill>
                  <a:srgbClr val="000000"/>
                </a:solidFill>
                <a:latin typeface="Roboto"/>
                <a:ea typeface="Roboto"/>
                <a:cs typeface="Roboto"/>
                <a:sym typeface="Roboto"/>
              </a:rPr>
              <a:t>La extracción de información en Python puede ser realizada a través de múltiples maneras, dependiendo del tipo de información que se quiera extraer y el formato en que se encuentra. A continuación, se muestran algunos ejemplos de cómo extraer información en Python:</a:t>
            </a:r>
            <a:endParaRPr sz="1200">
              <a:solidFill>
                <a:srgbClr val="000000"/>
              </a:solidFill>
              <a:latin typeface="Roboto"/>
              <a:ea typeface="Roboto"/>
              <a:cs typeface="Roboto"/>
              <a:sym typeface="Roboto"/>
            </a:endParaRPr>
          </a:p>
          <a:p>
            <a:pPr indent="-304800" lvl="0" marL="457200" rtl="0" algn="l">
              <a:spcBef>
                <a:spcPts val="1500"/>
              </a:spcBef>
              <a:spcAft>
                <a:spcPts val="0"/>
              </a:spcAft>
              <a:buClr>
                <a:srgbClr val="000000"/>
              </a:buClr>
              <a:buSzPts val="1200"/>
              <a:buFont typeface="Roboto"/>
              <a:buAutoNum type="arabicPeriod"/>
            </a:pPr>
            <a:r>
              <a:rPr lang="es-419" sz="1200">
                <a:solidFill>
                  <a:srgbClr val="000000"/>
                </a:solidFill>
                <a:latin typeface="Roboto"/>
                <a:ea typeface="Roboto"/>
                <a:cs typeface="Roboto"/>
                <a:sym typeface="Roboto"/>
              </a:rPr>
              <a:t>Lectura de archivos: En Python, se pueden leer archivos de diferentes formatos como CSV, Excel, texto plano, entre otros, utilizando módulos especializados como Pandas, openpyxl, csv, entre otros. Por ejemplo, para leer un archivo CSV utilizando Pandas se puede utilizar el siguiente código:</a:t>
            </a:r>
            <a:endParaRPr sz="1200">
              <a:solidFill>
                <a:srgbClr val="000000"/>
              </a:solidFill>
              <a:latin typeface="Roboto"/>
              <a:ea typeface="Roboto"/>
              <a:cs typeface="Roboto"/>
              <a:sym typeface="Roboto"/>
            </a:endParaRPr>
          </a:p>
          <a:p>
            <a:pPr indent="0" lvl="0" marL="0" rtl="0" algn="l">
              <a:spcBef>
                <a:spcPts val="1500"/>
              </a:spcBef>
              <a:spcAft>
                <a:spcPts val="0"/>
              </a:spcAft>
              <a:buNone/>
            </a:pPr>
            <a:r>
              <a:t/>
            </a:r>
            <a:endParaRPr sz="1200">
              <a:solidFill>
                <a:srgbClr val="D1D5DB"/>
              </a:solidFill>
              <a:highlight>
                <a:srgbClr val="444654"/>
              </a:highlight>
              <a:latin typeface="Roboto"/>
              <a:ea typeface="Roboto"/>
              <a:cs typeface="Roboto"/>
              <a:sym typeface="Roboto"/>
            </a:endParaRPr>
          </a:p>
          <a:p>
            <a:pPr indent="0" lvl="0" marL="0" rtl="0" algn="l">
              <a:spcBef>
                <a:spcPts val="1200"/>
              </a:spcBef>
              <a:spcAft>
                <a:spcPts val="1200"/>
              </a:spcAft>
              <a:buNone/>
            </a:pPr>
            <a:r>
              <a:t/>
            </a:r>
            <a:endParaRPr sz="1200">
              <a:solidFill>
                <a:srgbClr val="D1D5DB"/>
              </a:solidFill>
              <a:highlight>
                <a:srgbClr val="444654"/>
              </a:highlight>
              <a:latin typeface="Roboto"/>
              <a:ea typeface="Roboto"/>
              <a:cs typeface="Roboto"/>
              <a:sym typeface="Roboto"/>
            </a:endParaRPr>
          </a:p>
        </p:txBody>
      </p:sp>
      <p:pic>
        <p:nvPicPr>
          <p:cNvPr id="202" name="Google Shape;202;p31"/>
          <p:cNvPicPr preferRelativeResize="0"/>
          <p:nvPr/>
        </p:nvPicPr>
        <p:blipFill>
          <a:blip r:embed="rId3">
            <a:alphaModFix/>
          </a:blip>
          <a:stretch>
            <a:fillRect/>
          </a:stretch>
        </p:blipFill>
        <p:spPr>
          <a:xfrm>
            <a:off x="964025" y="3280375"/>
            <a:ext cx="6032390" cy="1136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Extracción de la información en Python (2/3)</a:t>
            </a:r>
            <a:endParaRPr/>
          </a:p>
          <a:p>
            <a:pPr indent="0" lvl="0" marL="0" rtl="0" algn="l">
              <a:spcBef>
                <a:spcPts val="0"/>
              </a:spcBef>
              <a:spcAft>
                <a:spcPts val="0"/>
              </a:spcAft>
              <a:buNone/>
            </a:pPr>
            <a:r>
              <a:t/>
            </a:r>
            <a:endParaRPr/>
          </a:p>
        </p:txBody>
      </p:sp>
      <p:sp>
        <p:nvSpPr>
          <p:cNvPr id="208" name="Google Shape;208;p32"/>
          <p:cNvSpPr txBox="1"/>
          <p:nvPr>
            <p:ph idx="1" type="body"/>
          </p:nvPr>
        </p:nvSpPr>
        <p:spPr>
          <a:xfrm>
            <a:off x="135875" y="1441200"/>
            <a:ext cx="8687700" cy="237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000000"/>
                </a:solidFill>
              </a:rPr>
              <a:t>2. </a:t>
            </a:r>
            <a:r>
              <a:rPr lang="es-419" sz="1200">
                <a:solidFill>
                  <a:srgbClr val="000000"/>
                </a:solidFill>
                <a:latin typeface="Roboto"/>
                <a:ea typeface="Roboto"/>
                <a:cs typeface="Roboto"/>
                <a:sym typeface="Roboto"/>
              </a:rPr>
              <a:t>Extracción de datos de bases de datos: En Python, se puede extraer información de bases de datos utilizando módulos especializados como SQLAlchemy, MySQL Connector, entre otros. Por ejemplo, para extraer información de una base de datos MySQL se puede utilizar el siguiente código:</a:t>
            </a:r>
            <a:endParaRPr sz="1200">
              <a:solidFill>
                <a:srgbClr val="000000"/>
              </a:solidFill>
              <a:latin typeface="Roboto"/>
              <a:ea typeface="Roboto"/>
              <a:cs typeface="Roboto"/>
              <a:sym typeface="Roboto"/>
            </a:endParaRPr>
          </a:p>
          <a:p>
            <a:pPr indent="0" lvl="0" marL="0" rtl="0" algn="l">
              <a:spcBef>
                <a:spcPts val="1200"/>
              </a:spcBef>
              <a:spcAft>
                <a:spcPts val="1200"/>
              </a:spcAft>
              <a:buNone/>
            </a:pPr>
            <a:r>
              <a:t/>
            </a:r>
            <a:endParaRPr/>
          </a:p>
        </p:txBody>
      </p:sp>
      <p:pic>
        <p:nvPicPr>
          <p:cNvPr id="209" name="Google Shape;209;p32"/>
          <p:cNvPicPr preferRelativeResize="0"/>
          <p:nvPr/>
        </p:nvPicPr>
        <p:blipFill>
          <a:blip r:embed="rId3">
            <a:alphaModFix/>
          </a:blip>
          <a:stretch>
            <a:fillRect/>
          </a:stretch>
        </p:blipFill>
        <p:spPr>
          <a:xfrm>
            <a:off x="2369826" y="2405850"/>
            <a:ext cx="4219786" cy="2571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idx="1" type="body"/>
          </p:nvPr>
        </p:nvSpPr>
        <p:spPr>
          <a:xfrm>
            <a:off x="135875" y="1517300"/>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000000"/>
                </a:solidFill>
              </a:rPr>
              <a:t>3. </a:t>
            </a:r>
            <a:r>
              <a:rPr lang="es-419" sz="1200">
                <a:solidFill>
                  <a:srgbClr val="000000"/>
                </a:solidFill>
                <a:latin typeface="Roboto"/>
                <a:ea typeface="Roboto"/>
                <a:cs typeface="Roboto"/>
                <a:sym typeface="Roboto"/>
              </a:rPr>
              <a:t>Web Scraping: En Python, se puede extraer información de páginas web utilizando módulos especializados como BeautifulSoup, Requests, Selenium, entre otros. Por ejemplo, para extraer la información de un sitio web utilizando BeautifulSoup se puede utilizar el siguiente código:</a:t>
            </a:r>
            <a:endParaRPr sz="1200">
              <a:solidFill>
                <a:srgbClr val="000000"/>
              </a:solidFill>
              <a:latin typeface="Roboto"/>
              <a:ea typeface="Roboto"/>
              <a:cs typeface="Roboto"/>
              <a:sym typeface="Roboto"/>
            </a:endParaRPr>
          </a:p>
          <a:p>
            <a:pPr indent="0" lvl="0" marL="0" rtl="0" algn="l">
              <a:spcBef>
                <a:spcPts val="1200"/>
              </a:spcBef>
              <a:spcAft>
                <a:spcPts val="1200"/>
              </a:spcAft>
              <a:buNone/>
            </a:pPr>
            <a:r>
              <a:t/>
            </a:r>
            <a:endParaRPr/>
          </a:p>
        </p:txBody>
      </p:sp>
      <p:sp>
        <p:nvSpPr>
          <p:cNvPr id="215" name="Google Shape;215;p33"/>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Extracción de la información en Python (3/3)</a:t>
            </a:r>
            <a:endParaRPr/>
          </a:p>
          <a:p>
            <a:pPr indent="0" lvl="0" marL="0" rtl="0" algn="l">
              <a:spcBef>
                <a:spcPts val="0"/>
              </a:spcBef>
              <a:spcAft>
                <a:spcPts val="0"/>
              </a:spcAft>
              <a:buNone/>
            </a:pPr>
            <a:r>
              <a:t/>
            </a:r>
            <a:endParaRPr/>
          </a:p>
        </p:txBody>
      </p:sp>
      <p:pic>
        <p:nvPicPr>
          <p:cNvPr id="216" name="Google Shape;216;p33"/>
          <p:cNvPicPr preferRelativeResize="0"/>
          <p:nvPr/>
        </p:nvPicPr>
        <p:blipFill>
          <a:blip r:embed="rId3">
            <a:alphaModFix/>
          </a:blip>
          <a:stretch>
            <a:fillRect/>
          </a:stretch>
        </p:blipFill>
        <p:spPr>
          <a:xfrm>
            <a:off x="280750" y="2571750"/>
            <a:ext cx="4906742" cy="2261100"/>
          </a:xfrm>
          <a:prstGeom prst="rect">
            <a:avLst/>
          </a:prstGeom>
          <a:noFill/>
          <a:ln>
            <a:noFill/>
          </a:ln>
        </p:spPr>
      </p:pic>
      <p:sp>
        <p:nvSpPr>
          <p:cNvPr id="217" name="Google Shape;217;p33"/>
          <p:cNvSpPr txBox="1"/>
          <p:nvPr/>
        </p:nvSpPr>
        <p:spPr>
          <a:xfrm>
            <a:off x="5951825" y="2409300"/>
            <a:ext cx="2935500" cy="1847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s-419" sz="1200">
                <a:latin typeface="Roboto"/>
                <a:ea typeface="Roboto"/>
                <a:cs typeface="Roboto"/>
                <a:sym typeface="Roboto"/>
              </a:rPr>
              <a:t>En resumen, la extracción de información en Python puede ser realizada a través de múltiples maneras, dependiendo del tipo de información y formato en que se </a:t>
            </a:r>
            <a:r>
              <a:rPr lang="es-419" sz="1200">
                <a:latin typeface="Roboto"/>
                <a:ea typeface="Roboto"/>
                <a:cs typeface="Roboto"/>
                <a:sym typeface="Roboto"/>
              </a:rPr>
              <a:t>encuentre</a:t>
            </a:r>
            <a:r>
              <a:rPr lang="es-419" sz="1200">
                <a:latin typeface="Roboto"/>
                <a:ea typeface="Roboto"/>
                <a:cs typeface="Roboto"/>
                <a:sym typeface="Roboto"/>
              </a:rPr>
              <a:t>. En general, se utilizan módulos especializados para realizar estas tareas, como Pandas, SQLAlchemy, BeautifulSoup, entre otros.</a:t>
            </a:r>
            <a:endParaRPr>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idx="1" type="subTitle"/>
          </p:nvPr>
        </p:nvSpPr>
        <p:spPr>
          <a:xfrm>
            <a:off x="129775" y="1539225"/>
            <a:ext cx="7688100" cy="3255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es-419"/>
              <a:t>Recordemos</a:t>
            </a:r>
            <a:endParaRPr/>
          </a:p>
          <a:p>
            <a:pPr indent="-330200" lvl="0" marL="457200" rtl="0" algn="l">
              <a:spcBef>
                <a:spcPts val="0"/>
              </a:spcBef>
              <a:spcAft>
                <a:spcPts val="0"/>
              </a:spcAft>
              <a:buSzPts val="1600"/>
              <a:buAutoNum type="arabicPeriod"/>
            </a:pPr>
            <a:r>
              <a:rPr lang="es-419"/>
              <a:t>El proceso de ETL</a:t>
            </a:r>
            <a:endParaRPr/>
          </a:p>
          <a:p>
            <a:pPr indent="-330200" lvl="0" marL="457200" rtl="0" algn="l">
              <a:spcBef>
                <a:spcPts val="0"/>
              </a:spcBef>
              <a:spcAft>
                <a:spcPts val="0"/>
              </a:spcAft>
              <a:buSzPts val="1600"/>
              <a:buAutoNum type="arabicPeriod"/>
            </a:pPr>
            <a:r>
              <a:rPr lang="es-419"/>
              <a:t>Extracción de la información</a:t>
            </a:r>
            <a:endParaRPr/>
          </a:p>
          <a:p>
            <a:pPr indent="-330200" lvl="0" marL="457200" rtl="0" algn="l">
              <a:spcBef>
                <a:spcPts val="0"/>
              </a:spcBef>
              <a:spcAft>
                <a:spcPts val="0"/>
              </a:spcAft>
              <a:buSzPts val="1600"/>
              <a:buAutoNum type="arabicPeriod"/>
            </a:pPr>
            <a:r>
              <a:rPr lang="es-419"/>
              <a:t>Establecer el espacio de trabajo</a:t>
            </a:r>
            <a:endParaRPr/>
          </a:p>
          <a:p>
            <a:pPr indent="-330200" lvl="0" marL="457200" rtl="0" algn="l">
              <a:spcBef>
                <a:spcPts val="0"/>
              </a:spcBef>
              <a:spcAft>
                <a:spcPts val="0"/>
              </a:spcAft>
              <a:buSzPts val="1600"/>
              <a:buAutoNum type="arabicPeriod"/>
            </a:pPr>
            <a:r>
              <a:rPr lang="es-419"/>
              <a:t>Extraer la información en Python</a:t>
            </a:r>
            <a:endParaRPr/>
          </a:p>
          <a:p>
            <a:pPr indent="-330200" lvl="0" marL="457200" rtl="0" algn="l">
              <a:spcBef>
                <a:spcPts val="0"/>
              </a:spcBef>
              <a:spcAft>
                <a:spcPts val="0"/>
              </a:spcAft>
              <a:buSzPts val="1600"/>
              <a:buAutoNum type="arabicPeriod"/>
            </a:pPr>
            <a:r>
              <a:rPr lang="es-419"/>
              <a:t>Realizar el EDA general a la estructura de datos.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5"/>
          <p:cNvSpPr txBox="1"/>
          <p:nvPr>
            <p:ph type="title"/>
          </p:nvPr>
        </p:nvSpPr>
        <p:spPr>
          <a:xfrm>
            <a:off x="135875" y="569600"/>
            <a:ext cx="85218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El EDA o inspección general a la estructura de Datos</a:t>
            </a:r>
            <a:endParaRPr/>
          </a:p>
        </p:txBody>
      </p:sp>
      <p:sp>
        <p:nvSpPr>
          <p:cNvPr id="228" name="Google Shape;228;p35"/>
          <p:cNvSpPr txBox="1"/>
          <p:nvPr>
            <p:ph idx="1" type="body"/>
          </p:nvPr>
        </p:nvSpPr>
        <p:spPr>
          <a:xfrm>
            <a:off x="135875" y="1530050"/>
            <a:ext cx="5669100" cy="337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050">
                <a:solidFill>
                  <a:srgbClr val="333333"/>
                </a:solidFill>
                <a:highlight>
                  <a:srgbClr val="FFFFFF"/>
                </a:highlight>
                <a:latin typeface="Arial"/>
                <a:ea typeface="Arial"/>
                <a:cs typeface="Arial"/>
                <a:sym typeface="Arial"/>
              </a:rPr>
              <a:t>Importados los datos, conviene hacer una inspección a estos. </a:t>
            </a:r>
            <a:endParaRPr sz="1050">
              <a:solidFill>
                <a:srgbClr val="333333"/>
              </a:solidFill>
              <a:highlight>
                <a:srgbClr val="FFFFFF"/>
              </a:highlight>
              <a:latin typeface="Arial"/>
              <a:ea typeface="Arial"/>
              <a:cs typeface="Arial"/>
              <a:sym typeface="Arial"/>
            </a:endParaRPr>
          </a:p>
          <a:p>
            <a:pPr indent="0" lvl="0" marL="0" rtl="0" algn="l">
              <a:spcBef>
                <a:spcPts val="1200"/>
              </a:spcBef>
              <a:spcAft>
                <a:spcPts val="0"/>
              </a:spcAft>
              <a:buNone/>
            </a:pPr>
            <a:r>
              <a:rPr lang="es-419" sz="1050">
                <a:solidFill>
                  <a:srgbClr val="333333"/>
                </a:solidFill>
                <a:highlight>
                  <a:srgbClr val="FFFFFF"/>
                </a:highlight>
                <a:latin typeface="Arial"/>
                <a:ea typeface="Arial"/>
                <a:cs typeface="Arial"/>
                <a:sym typeface="Arial"/>
              </a:rPr>
              <a:t>La inspección se puede hacer a nivel </a:t>
            </a:r>
            <a:r>
              <a:rPr i="1" lang="es-419" sz="1050">
                <a:solidFill>
                  <a:srgbClr val="333333"/>
                </a:solidFill>
                <a:highlight>
                  <a:srgbClr val="FFFFFF"/>
                </a:highlight>
                <a:latin typeface="Arial"/>
                <a:ea typeface="Arial"/>
                <a:cs typeface="Arial"/>
                <a:sym typeface="Arial"/>
              </a:rPr>
              <a:t>macro</a:t>
            </a:r>
            <a:r>
              <a:rPr lang="es-419" sz="1050">
                <a:solidFill>
                  <a:srgbClr val="333333"/>
                </a:solidFill>
                <a:highlight>
                  <a:srgbClr val="FFFFFF"/>
                </a:highlight>
                <a:latin typeface="Arial"/>
                <a:ea typeface="Arial"/>
                <a:cs typeface="Arial"/>
                <a:sym typeface="Arial"/>
              </a:rPr>
              <a:t> o general, o a nivel </a:t>
            </a:r>
            <a:r>
              <a:rPr i="1" lang="es-419" sz="1050">
                <a:solidFill>
                  <a:srgbClr val="333333"/>
                </a:solidFill>
                <a:highlight>
                  <a:srgbClr val="FFFFFF"/>
                </a:highlight>
                <a:latin typeface="Arial"/>
                <a:ea typeface="Arial"/>
                <a:cs typeface="Arial"/>
                <a:sym typeface="Arial"/>
              </a:rPr>
              <a:t>micro</a:t>
            </a:r>
            <a:r>
              <a:rPr lang="es-419" sz="1050">
                <a:solidFill>
                  <a:srgbClr val="333333"/>
                </a:solidFill>
                <a:highlight>
                  <a:srgbClr val="FFFFFF"/>
                </a:highlight>
                <a:latin typeface="Arial"/>
                <a:ea typeface="Arial"/>
                <a:cs typeface="Arial"/>
                <a:sym typeface="Arial"/>
              </a:rPr>
              <a:t>, yendo a ver casos específicos de interés. </a:t>
            </a:r>
            <a:endParaRPr sz="1050">
              <a:solidFill>
                <a:srgbClr val="333333"/>
              </a:solidFill>
              <a:highlight>
                <a:srgbClr val="FFFFFF"/>
              </a:highlight>
              <a:latin typeface="Arial"/>
              <a:ea typeface="Arial"/>
              <a:cs typeface="Arial"/>
              <a:sym typeface="Arial"/>
            </a:endParaRPr>
          </a:p>
          <a:p>
            <a:pPr indent="-295275" lvl="0" marL="457200" rtl="0" algn="l">
              <a:spcBef>
                <a:spcPts val="1200"/>
              </a:spcBef>
              <a:spcAft>
                <a:spcPts val="0"/>
              </a:spcAft>
              <a:buClr>
                <a:srgbClr val="333333"/>
              </a:buClr>
              <a:buSzPts val="1050"/>
              <a:buFont typeface="Arial"/>
              <a:buChar char="●"/>
            </a:pPr>
            <a:r>
              <a:rPr lang="es-419" sz="1050">
                <a:solidFill>
                  <a:srgbClr val="333333"/>
                </a:solidFill>
                <a:highlight>
                  <a:srgbClr val="FFFFFF"/>
                </a:highlight>
                <a:latin typeface="Arial"/>
                <a:ea typeface="Arial"/>
                <a:cs typeface="Arial"/>
                <a:sym typeface="Arial"/>
              </a:rPr>
              <a:t>Macro: el tipo archivo de datos, la estructura o composición la tabla, dimensiones (columnas y/o filas) y el nombre de las columnas.</a:t>
            </a:r>
            <a:endParaRPr sz="1050">
              <a:solidFill>
                <a:srgbClr val="333333"/>
              </a:solidFill>
              <a:highlight>
                <a:srgbClr val="FFFFFF"/>
              </a:highlight>
              <a:latin typeface="Arial"/>
              <a:ea typeface="Arial"/>
              <a:cs typeface="Arial"/>
              <a:sym typeface="Arial"/>
            </a:endParaRPr>
          </a:p>
          <a:p>
            <a:pPr indent="0" lvl="0" marL="0" rtl="0" algn="l">
              <a:spcBef>
                <a:spcPts val="1200"/>
              </a:spcBef>
              <a:spcAft>
                <a:spcPts val="0"/>
              </a:spcAft>
              <a:buNone/>
            </a:pPr>
            <a:r>
              <a:t/>
            </a:r>
            <a:endParaRPr sz="1050">
              <a:solidFill>
                <a:srgbClr val="333333"/>
              </a:solidFill>
              <a:highlight>
                <a:srgbClr val="FFFFFF"/>
              </a:highlight>
              <a:latin typeface="Arial"/>
              <a:ea typeface="Arial"/>
              <a:cs typeface="Arial"/>
              <a:sym typeface="Arial"/>
            </a:endParaRPr>
          </a:p>
          <a:p>
            <a:pPr indent="-295275" lvl="0" marL="457200" rtl="0" algn="l">
              <a:spcBef>
                <a:spcPts val="1200"/>
              </a:spcBef>
              <a:spcAft>
                <a:spcPts val="0"/>
              </a:spcAft>
              <a:buClr>
                <a:srgbClr val="333333"/>
              </a:buClr>
              <a:buSzPts val="1050"/>
              <a:buFont typeface="Arial"/>
              <a:buChar char="●"/>
            </a:pPr>
            <a:r>
              <a:rPr lang="es-419" sz="1050">
                <a:solidFill>
                  <a:srgbClr val="333333"/>
                </a:solidFill>
                <a:highlight>
                  <a:srgbClr val="FFFFFF"/>
                </a:highlight>
                <a:latin typeface="Arial"/>
                <a:ea typeface="Arial"/>
                <a:cs typeface="Arial"/>
                <a:sym typeface="Arial"/>
              </a:rPr>
              <a:t>Micro: </a:t>
            </a:r>
            <a:r>
              <a:rPr b="1" lang="es-419" sz="1050" u="sng">
                <a:solidFill>
                  <a:srgbClr val="333333"/>
                </a:solidFill>
                <a:highlight>
                  <a:srgbClr val="FFFFFF"/>
                </a:highlight>
                <a:latin typeface="Arial"/>
                <a:ea typeface="Arial"/>
                <a:cs typeface="Arial"/>
                <a:sym typeface="Arial"/>
              </a:rPr>
              <a:t>el tipo en las columnas o variable</a:t>
            </a:r>
            <a:r>
              <a:rPr lang="es-419" sz="1050">
                <a:solidFill>
                  <a:srgbClr val="333333"/>
                </a:solidFill>
                <a:highlight>
                  <a:srgbClr val="FFFFFF"/>
                </a:highlight>
                <a:latin typeface="Arial"/>
                <a:ea typeface="Arial"/>
                <a:cs typeface="Arial"/>
                <a:sym typeface="Arial"/>
              </a:rPr>
              <a:t>, primeras (head) o últimas líneas (tail), tomar ciertas filas o coloumnas o composición de estas, y realizar un análisis descriptiva para saber si existe o no valores no lógicos o aberrantes.</a:t>
            </a:r>
            <a:endParaRPr sz="1050">
              <a:solidFill>
                <a:srgbClr val="333333"/>
              </a:solidFill>
              <a:highlight>
                <a:srgbClr val="FFFFFF"/>
              </a:highlight>
              <a:latin typeface="Arial"/>
              <a:ea typeface="Arial"/>
              <a:cs typeface="Arial"/>
              <a:sym typeface="Arial"/>
            </a:endParaRPr>
          </a:p>
          <a:p>
            <a:pPr indent="0" lvl="0" marL="0" rtl="0" algn="l">
              <a:spcBef>
                <a:spcPts val="1200"/>
              </a:spcBef>
              <a:spcAft>
                <a:spcPts val="0"/>
              </a:spcAft>
              <a:buNone/>
            </a:pPr>
            <a:r>
              <a:t/>
            </a:r>
            <a:endParaRPr sz="1050">
              <a:solidFill>
                <a:srgbClr val="333333"/>
              </a:solidFill>
              <a:highlight>
                <a:srgbClr val="FFFFFF"/>
              </a:highlight>
              <a:latin typeface="Arial"/>
              <a:ea typeface="Arial"/>
              <a:cs typeface="Arial"/>
              <a:sym typeface="Arial"/>
            </a:endParaRPr>
          </a:p>
          <a:p>
            <a:pPr indent="0" lvl="0" marL="0" rtl="0" algn="l">
              <a:spcBef>
                <a:spcPts val="1200"/>
              </a:spcBef>
              <a:spcAft>
                <a:spcPts val="1200"/>
              </a:spcAft>
              <a:buNone/>
            </a:pPr>
            <a:r>
              <a:rPr lang="es-419" sz="1050">
                <a:solidFill>
                  <a:srgbClr val="333333"/>
                </a:solidFill>
                <a:highlight>
                  <a:srgbClr val="FFFFFF"/>
                </a:highlight>
                <a:latin typeface="Arial"/>
                <a:ea typeface="Arial"/>
                <a:cs typeface="Arial"/>
                <a:sym typeface="Arial"/>
              </a:rPr>
              <a:t>¿Las extracciones son perfectas? Para nada, por eso tenemos que revisar bien las constitución, tanto de la estructura, como posible aberraciones en la información</a:t>
            </a:r>
            <a:endParaRPr sz="1050">
              <a:solidFill>
                <a:srgbClr val="333333"/>
              </a:solidFill>
              <a:highlight>
                <a:srgbClr val="FFFFFF"/>
              </a:highlight>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6"/>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Ejemplo con Python: EDA general</a:t>
            </a:r>
            <a:endParaRPr/>
          </a:p>
        </p:txBody>
      </p:sp>
      <p:sp>
        <p:nvSpPr>
          <p:cNvPr id="234" name="Google Shape;234;p36"/>
          <p:cNvSpPr txBox="1"/>
          <p:nvPr>
            <p:ph idx="1" type="body"/>
          </p:nvPr>
        </p:nvSpPr>
        <p:spPr>
          <a:xfrm>
            <a:off x="171300" y="1584300"/>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Un caso del EDA macro a los datos:</a:t>
            </a:r>
            <a:endParaRPr/>
          </a:p>
        </p:txBody>
      </p:sp>
      <p:pic>
        <p:nvPicPr>
          <p:cNvPr id="235" name="Google Shape;235;p36"/>
          <p:cNvPicPr preferRelativeResize="0"/>
          <p:nvPr/>
        </p:nvPicPr>
        <p:blipFill>
          <a:blip r:embed="rId3">
            <a:alphaModFix/>
          </a:blip>
          <a:stretch>
            <a:fillRect/>
          </a:stretch>
        </p:blipFill>
        <p:spPr>
          <a:xfrm>
            <a:off x="703925" y="2112504"/>
            <a:ext cx="2747975" cy="2792075"/>
          </a:xfrm>
          <a:prstGeom prst="rect">
            <a:avLst/>
          </a:prstGeom>
          <a:noFill/>
          <a:ln>
            <a:noFill/>
          </a:ln>
        </p:spPr>
      </p:pic>
      <p:pic>
        <p:nvPicPr>
          <p:cNvPr id="236" name="Google Shape;236;p36"/>
          <p:cNvPicPr preferRelativeResize="0"/>
          <p:nvPr/>
        </p:nvPicPr>
        <p:blipFill>
          <a:blip r:embed="rId4">
            <a:alphaModFix/>
          </a:blip>
          <a:stretch>
            <a:fillRect/>
          </a:stretch>
        </p:blipFill>
        <p:spPr>
          <a:xfrm>
            <a:off x="4189699" y="2685425"/>
            <a:ext cx="4366851" cy="1328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Ejemplo con Python: EDA específico</a:t>
            </a:r>
            <a:endParaRPr/>
          </a:p>
        </p:txBody>
      </p:sp>
      <p:sp>
        <p:nvSpPr>
          <p:cNvPr id="242" name="Google Shape;242;p37"/>
          <p:cNvSpPr txBox="1"/>
          <p:nvPr>
            <p:ph idx="1" type="body"/>
          </p:nvPr>
        </p:nvSpPr>
        <p:spPr>
          <a:xfrm>
            <a:off x="171300" y="1584300"/>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Un caso del EDA micro a los datos:</a:t>
            </a:r>
            <a:endParaRPr/>
          </a:p>
        </p:txBody>
      </p:sp>
      <p:pic>
        <p:nvPicPr>
          <p:cNvPr id="243" name="Google Shape;243;p37"/>
          <p:cNvPicPr preferRelativeResize="0"/>
          <p:nvPr/>
        </p:nvPicPr>
        <p:blipFill>
          <a:blip r:embed="rId3">
            <a:alphaModFix/>
          </a:blip>
          <a:stretch>
            <a:fillRect/>
          </a:stretch>
        </p:blipFill>
        <p:spPr>
          <a:xfrm>
            <a:off x="237175" y="2217350"/>
            <a:ext cx="2266950" cy="838200"/>
          </a:xfrm>
          <a:prstGeom prst="rect">
            <a:avLst/>
          </a:prstGeom>
          <a:noFill/>
          <a:ln>
            <a:noFill/>
          </a:ln>
        </p:spPr>
      </p:pic>
      <p:pic>
        <p:nvPicPr>
          <p:cNvPr id="244" name="Google Shape;244;p37"/>
          <p:cNvPicPr preferRelativeResize="0"/>
          <p:nvPr/>
        </p:nvPicPr>
        <p:blipFill>
          <a:blip r:embed="rId4">
            <a:alphaModFix/>
          </a:blip>
          <a:stretch>
            <a:fillRect/>
          </a:stretch>
        </p:blipFill>
        <p:spPr>
          <a:xfrm>
            <a:off x="2978950" y="2183150"/>
            <a:ext cx="3489625" cy="2345675"/>
          </a:xfrm>
          <a:prstGeom prst="rect">
            <a:avLst/>
          </a:prstGeom>
          <a:noFill/>
          <a:ln>
            <a:noFill/>
          </a:ln>
        </p:spPr>
      </p:pic>
      <p:pic>
        <p:nvPicPr>
          <p:cNvPr id="245" name="Google Shape;245;p37"/>
          <p:cNvPicPr preferRelativeResize="0"/>
          <p:nvPr/>
        </p:nvPicPr>
        <p:blipFill>
          <a:blip r:embed="rId5">
            <a:alphaModFix/>
          </a:blip>
          <a:stretch>
            <a:fillRect/>
          </a:stretch>
        </p:blipFill>
        <p:spPr>
          <a:xfrm>
            <a:off x="6943399" y="2183150"/>
            <a:ext cx="2039600" cy="2681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8"/>
          <p:cNvSpPr txBox="1"/>
          <p:nvPr>
            <p:ph idx="1" type="subTitle"/>
          </p:nvPr>
        </p:nvSpPr>
        <p:spPr>
          <a:xfrm>
            <a:off x="129775" y="1539225"/>
            <a:ext cx="7688100" cy="3255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es-419"/>
              <a:t>Recordemos</a:t>
            </a:r>
            <a:endParaRPr/>
          </a:p>
          <a:p>
            <a:pPr indent="-330200" lvl="0" marL="457200" rtl="0" algn="l">
              <a:spcBef>
                <a:spcPts val="0"/>
              </a:spcBef>
              <a:spcAft>
                <a:spcPts val="0"/>
              </a:spcAft>
              <a:buSzPts val="1600"/>
              <a:buAutoNum type="arabicPeriod"/>
            </a:pPr>
            <a:r>
              <a:rPr lang="es-419"/>
              <a:t>El proceso de ETL</a:t>
            </a:r>
            <a:endParaRPr/>
          </a:p>
          <a:p>
            <a:pPr indent="-330200" lvl="0" marL="457200" rtl="0" algn="l">
              <a:spcBef>
                <a:spcPts val="0"/>
              </a:spcBef>
              <a:spcAft>
                <a:spcPts val="0"/>
              </a:spcAft>
              <a:buSzPts val="1600"/>
              <a:buAutoNum type="arabicPeriod"/>
            </a:pPr>
            <a:r>
              <a:rPr lang="es-419"/>
              <a:t>Extracción de la información</a:t>
            </a:r>
            <a:endParaRPr/>
          </a:p>
          <a:p>
            <a:pPr indent="-330200" lvl="0" marL="457200" rtl="0" algn="l">
              <a:spcBef>
                <a:spcPts val="0"/>
              </a:spcBef>
              <a:spcAft>
                <a:spcPts val="0"/>
              </a:spcAft>
              <a:buSzPts val="1600"/>
              <a:buAutoNum type="arabicPeriod"/>
            </a:pPr>
            <a:r>
              <a:rPr lang="es-419"/>
              <a:t>Establecer el espacio de trabajo</a:t>
            </a:r>
            <a:endParaRPr/>
          </a:p>
          <a:p>
            <a:pPr indent="-330200" lvl="0" marL="457200" rtl="0" algn="l">
              <a:spcBef>
                <a:spcPts val="0"/>
              </a:spcBef>
              <a:spcAft>
                <a:spcPts val="0"/>
              </a:spcAft>
              <a:buSzPts val="1600"/>
              <a:buAutoNum type="arabicPeriod"/>
            </a:pPr>
            <a:r>
              <a:rPr lang="es-419"/>
              <a:t>Extraer la información en Python</a:t>
            </a:r>
            <a:endParaRPr/>
          </a:p>
          <a:p>
            <a:pPr indent="-330200" lvl="0" marL="457200" rtl="0" algn="l">
              <a:spcBef>
                <a:spcPts val="0"/>
              </a:spcBef>
              <a:spcAft>
                <a:spcPts val="0"/>
              </a:spcAft>
              <a:buSzPts val="1600"/>
              <a:buAutoNum type="arabicPeriod"/>
            </a:pPr>
            <a:r>
              <a:rPr lang="es-419"/>
              <a:t>Realizar el EDA general a la estructura de datos.</a:t>
            </a:r>
            <a:endParaRPr/>
          </a:p>
          <a:p>
            <a:pPr indent="-330200" lvl="0" marL="457200" rtl="0" algn="l">
              <a:spcBef>
                <a:spcPts val="0"/>
              </a:spcBef>
              <a:spcAft>
                <a:spcPts val="0"/>
              </a:spcAft>
              <a:buSzPts val="1600"/>
              <a:buAutoNum type="arabicPeriod"/>
            </a:pPr>
            <a:r>
              <a:rPr lang="es-419"/>
              <a:t>Tipos de estructuras de Datos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9"/>
          <p:cNvSpPr txBox="1"/>
          <p:nvPr>
            <p:ph type="title"/>
          </p:nvPr>
        </p:nvSpPr>
        <p:spPr>
          <a:xfrm>
            <a:off x="135875" y="569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Estructuras de datos</a:t>
            </a:r>
            <a:endParaRPr/>
          </a:p>
        </p:txBody>
      </p:sp>
      <p:sp>
        <p:nvSpPr>
          <p:cNvPr id="256" name="Google Shape;256;p39"/>
          <p:cNvSpPr txBox="1"/>
          <p:nvPr>
            <p:ph idx="1" type="body"/>
          </p:nvPr>
        </p:nvSpPr>
        <p:spPr>
          <a:xfrm>
            <a:off x="135875" y="1676150"/>
            <a:ext cx="86391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No todas las estructuras son las mismas. A veces el índice es una </a:t>
            </a:r>
            <a:r>
              <a:rPr lang="es-419"/>
              <a:t>enumeración</a:t>
            </a:r>
            <a:r>
              <a:rPr lang="es-419"/>
              <a:t>, a veces un </a:t>
            </a:r>
            <a:r>
              <a:rPr lang="es-419"/>
              <a:t>carácter</a:t>
            </a:r>
            <a:r>
              <a:rPr lang="es-419"/>
              <a:t>, y a veces el tiempo.</a:t>
            </a:r>
            <a:endParaRPr/>
          </a:p>
        </p:txBody>
      </p:sp>
      <p:pic>
        <p:nvPicPr>
          <p:cNvPr id="257" name="Google Shape;257;p39"/>
          <p:cNvPicPr preferRelativeResize="0"/>
          <p:nvPr/>
        </p:nvPicPr>
        <p:blipFill>
          <a:blip r:embed="rId3">
            <a:alphaModFix/>
          </a:blip>
          <a:stretch>
            <a:fillRect/>
          </a:stretch>
        </p:blipFill>
        <p:spPr>
          <a:xfrm>
            <a:off x="252025" y="2077150"/>
            <a:ext cx="1892613" cy="2896749"/>
          </a:xfrm>
          <a:prstGeom prst="rect">
            <a:avLst/>
          </a:prstGeom>
          <a:noFill/>
          <a:ln>
            <a:noFill/>
          </a:ln>
        </p:spPr>
      </p:pic>
      <p:pic>
        <p:nvPicPr>
          <p:cNvPr id="258" name="Google Shape;258;p39"/>
          <p:cNvPicPr preferRelativeResize="0"/>
          <p:nvPr/>
        </p:nvPicPr>
        <p:blipFill>
          <a:blip r:embed="rId4">
            <a:alphaModFix/>
          </a:blip>
          <a:stretch>
            <a:fillRect/>
          </a:stretch>
        </p:blipFill>
        <p:spPr>
          <a:xfrm>
            <a:off x="2556550" y="2101875"/>
            <a:ext cx="3498375" cy="2847301"/>
          </a:xfrm>
          <a:prstGeom prst="rect">
            <a:avLst/>
          </a:prstGeom>
          <a:noFill/>
          <a:ln>
            <a:noFill/>
          </a:ln>
        </p:spPr>
      </p:pic>
      <p:pic>
        <p:nvPicPr>
          <p:cNvPr id="259" name="Google Shape;259;p39"/>
          <p:cNvPicPr preferRelativeResize="0"/>
          <p:nvPr/>
        </p:nvPicPr>
        <p:blipFill>
          <a:blip r:embed="rId5">
            <a:alphaModFix/>
          </a:blip>
          <a:stretch>
            <a:fillRect/>
          </a:stretch>
        </p:blipFill>
        <p:spPr>
          <a:xfrm>
            <a:off x="6466825" y="2167000"/>
            <a:ext cx="2220861" cy="2782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0"/>
          <p:cNvSpPr txBox="1"/>
          <p:nvPr>
            <p:ph idx="1" type="subTitle"/>
          </p:nvPr>
        </p:nvSpPr>
        <p:spPr>
          <a:xfrm>
            <a:off x="129775" y="1539225"/>
            <a:ext cx="7688100" cy="3255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es-419"/>
              <a:t>Recordemos</a:t>
            </a:r>
            <a:endParaRPr/>
          </a:p>
          <a:p>
            <a:pPr indent="-330200" lvl="0" marL="457200" rtl="0" algn="l">
              <a:spcBef>
                <a:spcPts val="0"/>
              </a:spcBef>
              <a:spcAft>
                <a:spcPts val="0"/>
              </a:spcAft>
              <a:buSzPts val="1600"/>
              <a:buAutoNum type="arabicPeriod"/>
            </a:pPr>
            <a:r>
              <a:rPr lang="es-419"/>
              <a:t>El proceso de ETL</a:t>
            </a:r>
            <a:endParaRPr/>
          </a:p>
          <a:p>
            <a:pPr indent="-330200" lvl="0" marL="457200" rtl="0" algn="l">
              <a:spcBef>
                <a:spcPts val="0"/>
              </a:spcBef>
              <a:spcAft>
                <a:spcPts val="0"/>
              </a:spcAft>
              <a:buSzPts val="1600"/>
              <a:buAutoNum type="arabicPeriod"/>
            </a:pPr>
            <a:r>
              <a:rPr lang="es-419"/>
              <a:t>Extracción de la información</a:t>
            </a:r>
            <a:endParaRPr/>
          </a:p>
          <a:p>
            <a:pPr indent="-330200" lvl="0" marL="457200" rtl="0" algn="l">
              <a:spcBef>
                <a:spcPts val="0"/>
              </a:spcBef>
              <a:spcAft>
                <a:spcPts val="0"/>
              </a:spcAft>
              <a:buSzPts val="1600"/>
              <a:buAutoNum type="arabicPeriod"/>
            </a:pPr>
            <a:r>
              <a:rPr lang="es-419"/>
              <a:t>Establecer el espacio de trabajo</a:t>
            </a:r>
            <a:endParaRPr/>
          </a:p>
          <a:p>
            <a:pPr indent="-330200" lvl="0" marL="457200" rtl="0" algn="l">
              <a:spcBef>
                <a:spcPts val="0"/>
              </a:spcBef>
              <a:spcAft>
                <a:spcPts val="0"/>
              </a:spcAft>
              <a:buSzPts val="1600"/>
              <a:buAutoNum type="arabicPeriod"/>
            </a:pPr>
            <a:r>
              <a:rPr lang="es-419"/>
              <a:t>Extraer la información en Python</a:t>
            </a:r>
            <a:endParaRPr/>
          </a:p>
          <a:p>
            <a:pPr indent="-330200" lvl="0" marL="457200" rtl="0" algn="l">
              <a:spcBef>
                <a:spcPts val="0"/>
              </a:spcBef>
              <a:spcAft>
                <a:spcPts val="0"/>
              </a:spcAft>
              <a:buSzPts val="1600"/>
              <a:buAutoNum type="arabicPeriod"/>
            </a:pPr>
            <a:r>
              <a:rPr lang="es-419"/>
              <a:t>Realizar el EDA general a la estructura de datos.</a:t>
            </a:r>
            <a:endParaRPr/>
          </a:p>
          <a:p>
            <a:pPr indent="-330200" lvl="0" marL="457200" rtl="0" algn="l">
              <a:spcBef>
                <a:spcPts val="0"/>
              </a:spcBef>
              <a:spcAft>
                <a:spcPts val="0"/>
              </a:spcAft>
              <a:buSzPts val="1600"/>
              <a:buAutoNum type="arabicPeriod"/>
            </a:pPr>
            <a:r>
              <a:rPr lang="es-419"/>
              <a:t>Tipos de estructuras de Datos</a:t>
            </a:r>
            <a:endParaRPr/>
          </a:p>
          <a:p>
            <a:pPr indent="-330200" lvl="0" marL="457200" rtl="0" algn="l">
              <a:spcBef>
                <a:spcPts val="0"/>
              </a:spcBef>
              <a:spcAft>
                <a:spcPts val="0"/>
              </a:spcAft>
              <a:buSzPts val="1600"/>
              <a:buAutoNum type="arabicPeriod"/>
            </a:pPr>
            <a:r>
              <a:rPr lang="es-419"/>
              <a:t>Exportación de datos.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1"/>
          <p:cNvSpPr txBox="1"/>
          <p:nvPr>
            <p:ph type="title"/>
          </p:nvPr>
        </p:nvSpPr>
        <p:spPr>
          <a:xfrm>
            <a:off x="340900" y="5344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Exportación de datos (</a:t>
            </a:r>
            <a:r>
              <a:rPr lang="es-419"/>
              <a:t>1/2</a:t>
            </a:r>
            <a:r>
              <a:rPr lang="es-419"/>
              <a:t>)</a:t>
            </a:r>
            <a:endParaRPr/>
          </a:p>
        </p:txBody>
      </p:sp>
      <p:sp>
        <p:nvSpPr>
          <p:cNvPr id="270" name="Google Shape;270;p41"/>
          <p:cNvSpPr txBox="1"/>
          <p:nvPr>
            <p:ph idx="1" type="body"/>
          </p:nvPr>
        </p:nvSpPr>
        <p:spPr>
          <a:xfrm>
            <a:off x="192500" y="1471275"/>
            <a:ext cx="85260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Recordemos… terminamos la letra “E”, y entonces, </a:t>
            </a:r>
            <a:r>
              <a:rPr lang="es-419"/>
              <a:t>importada </a:t>
            </a:r>
            <a:r>
              <a:rPr lang="es-419"/>
              <a:t>la información, nos interesa crear las estructuras de datos deseables para el análisis. Pero… </a:t>
            </a:r>
            <a:r>
              <a:rPr lang="es-419"/>
              <a:t>La transformación</a:t>
            </a:r>
            <a:r>
              <a:rPr lang="es-419"/>
              <a:t> se verá en los próximos capítulos.</a:t>
            </a:r>
            <a:endParaRPr/>
          </a:p>
        </p:txBody>
      </p:sp>
      <p:pic>
        <p:nvPicPr>
          <p:cNvPr id="271" name="Google Shape;271;p41"/>
          <p:cNvPicPr preferRelativeResize="0"/>
          <p:nvPr/>
        </p:nvPicPr>
        <p:blipFill>
          <a:blip r:embed="rId3">
            <a:alphaModFix/>
          </a:blip>
          <a:stretch>
            <a:fillRect/>
          </a:stretch>
        </p:blipFill>
        <p:spPr>
          <a:xfrm>
            <a:off x="438588" y="2199248"/>
            <a:ext cx="7493324" cy="2590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2"/>
          <p:cNvSpPr txBox="1"/>
          <p:nvPr>
            <p:ph idx="1" type="body"/>
          </p:nvPr>
        </p:nvSpPr>
        <p:spPr>
          <a:xfrm>
            <a:off x="164225" y="1441200"/>
            <a:ext cx="8822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Sin embargo, yo extraigo, para luego transformar (casi nunca veremos ingestar perfectas, para luego crear los Marts (estructuras deseables), y estos serán exportados, y serán los archivos que analizaremos.  </a:t>
            </a:r>
            <a:br>
              <a:rPr lang="es-419"/>
            </a:br>
            <a:r>
              <a:rPr lang="es-419"/>
              <a:t>→ Cómo exportamos en Python ? Creado el Dataframe, se </a:t>
            </a:r>
            <a:r>
              <a:rPr lang="es-419" sz="1200">
                <a:solidFill>
                  <a:srgbClr val="333333"/>
                </a:solidFill>
                <a:latin typeface="Roboto"/>
                <a:ea typeface="Roboto"/>
                <a:cs typeface="Roboto"/>
                <a:sym typeface="Roboto"/>
              </a:rPr>
              <a:t>creará tres archivos </a:t>
            </a:r>
            <a:r>
              <a:rPr b="1" lang="es-419" sz="1200" u="sng">
                <a:solidFill>
                  <a:srgbClr val="333333"/>
                </a:solidFill>
                <a:latin typeface="Roboto"/>
                <a:ea typeface="Roboto"/>
                <a:cs typeface="Roboto"/>
                <a:sym typeface="Roboto"/>
              </a:rPr>
              <a:t>en el mismo directorio donde se esté ejecutando el código</a:t>
            </a:r>
            <a:r>
              <a:rPr lang="es-419" sz="1200">
                <a:solidFill>
                  <a:srgbClr val="333333"/>
                </a:solidFill>
                <a:latin typeface="Roboto"/>
                <a:ea typeface="Roboto"/>
                <a:cs typeface="Roboto"/>
                <a:sym typeface="Roboto"/>
              </a:rPr>
              <a:t>, uno en formato .xlsx, otro en formato .csv y otro en formato .parquet, con los datos del dataframe.</a:t>
            </a:r>
            <a:endParaRPr>
              <a:solidFill>
                <a:srgbClr val="333333"/>
              </a:solidFill>
            </a:endParaRPr>
          </a:p>
        </p:txBody>
      </p:sp>
      <p:sp>
        <p:nvSpPr>
          <p:cNvPr id="277" name="Google Shape;277;p42"/>
          <p:cNvSpPr txBox="1"/>
          <p:nvPr>
            <p:ph type="title"/>
          </p:nvPr>
        </p:nvSpPr>
        <p:spPr>
          <a:xfrm>
            <a:off x="340900" y="5344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Exportación de datos (2/2)</a:t>
            </a:r>
            <a:endParaRPr/>
          </a:p>
        </p:txBody>
      </p:sp>
      <p:pic>
        <p:nvPicPr>
          <p:cNvPr id="278" name="Google Shape;278;p42"/>
          <p:cNvPicPr preferRelativeResize="0"/>
          <p:nvPr/>
        </p:nvPicPr>
        <p:blipFill>
          <a:blip r:embed="rId3">
            <a:alphaModFix/>
          </a:blip>
          <a:stretch>
            <a:fillRect/>
          </a:stretch>
        </p:blipFill>
        <p:spPr>
          <a:xfrm>
            <a:off x="340900" y="2571750"/>
            <a:ext cx="2874775" cy="2456925"/>
          </a:xfrm>
          <a:prstGeom prst="rect">
            <a:avLst/>
          </a:prstGeom>
          <a:noFill/>
          <a:ln>
            <a:noFill/>
          </a:ln>
        </p:spPr>
      </p:pic>
      <p:cxnSp>
        <p:nvCxnSpPr>
          <p:cNvPr id="279" name="Google Shape;279;p42"/>
          <p:cNvCxnSpPr/>
          <p:nvPr/>
        </p:nvCxnSpPr>
        <p:spPr>
          <a:xfrm>
            <a:off x="3511425" y="3829350"/>
            <a:ext cx="2225700" cy="0"/>
          </a:xfrm>
          <a:prstGeom prst="straightConnector1">
            <a:avLst/>
          </a:prstGeom>
          <a:noFill/>
          <a:ln cap="flat" cmpd="sng" w="9525">
            <a:solidFill>
              <a:schemeClr val="dk2"/>
            </a:solidFill>
            <a:prstDash val="solid"/>
            <a:round/>
            <a:headEnd len="med" w="med" type="none"/>
            <a:tailEnd len="med" w="med" type="triangle"/>
          </a:ln>
        </p:spPr>
      </p:cxnSp>
      <p:pic>
        <p:nvPicPr>
          <p:cNvPr id="280" name="Google Shape;280;p42"/>
          <p:cNvPicPr preferRelativeResize="0"/>
          <p:nvPr/>
        </p:nvPicPr>
        <p:blipFill>
          <a:blip r:embed="rId4">
            <a:alphaModFix/>
          </a:blip>
          <a:stretch>
            <a:fillRect/>
          </a:stretch>
        </p:blipFill>
        <p:spPr>
          <a:xfrm>
            <a:off x="6032875" y="2681588"/>
            <a:ext cx="2895600" cy="2295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3"/>
          <p:cNvSpPr txBox="1"/>
          <p:nvPr>
            <p:ph type="title"/>
          </p:nvPr>
        </p:nvSpPr>
        <p:spPr>
          <a:xfrm>
            <a:off x="291400" y="5626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En resumen</a:t>
            </a:r>
            <a:endParaRPr/>
          </a:p>
        </p:txBody>
      </p:sp>
      <p:sp>
        <p:nvSpPr>
          <p:cNvPr id="286" name="Google Shape;286;p43"/>
          <p:cNvSpPr txBox="1"/>
          <p:nvPr>
            <p:ph idx="1" type="body"/>
          </p:nvPr>
        </p:nvSpPr>
        <p:spPr>
          <a:xfrm>
            <a:off x="171300" y="1598425"/>
            <a:ext cx="6872700" cy="348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presente tema presentó los </a:t>
            </a:r>
            <a:r>
              <a:rPr lang="es-419"/>
              <a:t>principios</a:t>
            </a:r>
            <a:r>
              <a:rPr lang="es-419"/>
              <a:t> del ETL.</a:t>
            </a:r>
            <a:endParaRPr/>
          </a:p>
          <a:p>
            <a:pPr indent="0" lvl="0" marL="0" rtl="0" algn="l">
              <a:spcBef>
                <a:spcPts val="1200"/>
              </a:spcBef>
              <a:spcAft>
                <a:spcPts val="0"/>
              </a:spcAft>
              <a:buNone/>
            </a:pPr>
            <a:r>
              <a:rPr lang="es-419"/>
              <a:t>Se inicia con la ingesta (extracción) de los datos. Aunque no es necesario, se </a:t>
            </a:r>
            <a:r>
              <a:rPr lang="es-419"/>
              <a:t>recomienda establecer el directorio de trabajo. </a:t>
            </a:r>
            <a:endParaRPr/>
          </a:p>
          <a:p>
            <a:pPr indent="0" lvl="0" marL="0" rtl="0" algn="l">
              <a:spcBef>
                <a:spcPts val="1200"/>
              </a:spcBef>
              <a:spcAft>
                <a:spcPts val="0"/>
              </a:spcAft>
              <a:buNone/>
            </a:pPr>
            <a:r>
              <a:rPr lang="es-419"/>
              <a:t>El python, lo usual es extraer archivos de datos, aunque podemos extraer a partir de bases de datos o de la web. Nos enfocaremos en extraer datos con Pandas.</a:t>
            </a:r>
            <a:endParaRPr/>
          </a:p>
          <a:p>
            <a:pPr indent="0" lvl="0" marL="0" rtl="0" algn="l">
              <a:spcBef>
                <a:spcPts val="1200"/>
              </a:spcBef>
              <a:spcAft>
                <a:spcPts val="0"/>
              </a:spcAft>
              <a:buNone/>
            </a:pPr>
            <a:r>
              <a:rPr lang="es-419"/>
              <a:t>Extraída la información, es recomendable hacer un análisis EDA del proceso, tanto a nivel general y específico.</a:t>
            </a:r>
            <a:endParaRPr/>
          </a:p>
          <a:p>
            <a:pPr indent="0" lvl="0" marL="0" rtl="0" algn="l">
              <a:spcBef>
                <a:spcPts val="1200"/>
              </a:spcBef>
              <a:spcAft>
                <a:spcPts val="0"/>
              </a:spcAft>
              <a:buNone/>
            </a:pPr>
            <a:r>
              <a:rPr lang="es-419"/>
              <a:t>No todas las estructuras son las mismas y esto es importante porque el tipo de análisis depende de esto.</a:t>
            </a:r>
            <a:endParaRPr/>
          </a:p>
          <a:p>
            <a:pPr indent="0" lvl="0" marL="0" rtl="0" algn="l">
              <a:spcBef>
                <a:spcPts val="1200"/>
              </a:spcBef>
              <a:spcAft>
                <a:spcPts val="1200"/>
              </a:spcAft>
              <a:buNone/>
            </a:pPr>
            <a:r>
              <a:rPr lang="es-419"/>
              <a:t>Finalmente, la información se extrae, para ser convertida en un Mart (estructura adecuada), para luego ser analizada. El Mart se trasladará a otro espacio de análisis.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92" name="Google Shape;292;p4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3" name="Google Shape;293;p44"/>
          <p:cNvPicPr preferRelativeResize="0"/>
          <p:nvPr/>
        </p:nvPicPr>
        <p:blipFill>
          <a:blip r:embed="rId3">
            <a:alphaModFix/>
          </a:blip>
          <a:stretch>
            <a:fillRect/>
          </a:stretch>
        </p:blipFill>
        <p:spPr>
          <a:xfrm>
            <a:off x="0" y="-1"/>
            <a:ext cx="9144001"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